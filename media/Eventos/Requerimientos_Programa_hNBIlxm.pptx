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1" r:id="rId3"/>
    <p:sldId id="260" r:id="rId4"/>
  </p:sldIdLst>
  <p:sldSz cx="12192000" cy="6858000"/>
  <p:notesSz cx="6858000" cy="9144000"/>
  <p:defaultTextStyle>
    <a:defPPr>
      <a:defRPr lang="es-C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9" d="100"/>
          <a:sy n="109" d="100"/>
        </p:scale>
        <p:origin x="58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E89D08-35B4-413A-B717-711D6F1AF4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U"/>
          </a:p>
        </p:txBody>
      </p:sp>
      <p:sp>
        <p:nvSpPr>
          <p:cNvPr id="3" name="Subtítulo 2">
            <a:extLst>
              <a:ext uri="{FF2B5EF4-FFF2-40B4-BE49-F238E27FC236}">
                <a16:creationId xmlns:a16="http://schemas.microsoft.com/office/drawing/2014/main" id="{29B4A158-E031-42D4-8490-DC603B9AF2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U"/>
          </a:p>
        </p:txBody>
      </p:sp>
      <p:sp>
        <p:nvSpPr>
          <p:cNvPr id="4" name="Marcador de fecha 3">
            <a:extLst>
              <a:ext uri="{FF2B5EF4-FFF2-40B4-BE49-F238E27FC236}">
                <a16:creationId xmlns:a16="http://schemas.microsoft.com/office/drawing/2014/main" id="{19EE016A-C82C-4EB0-B73E-47BC8C91B043}"/>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5" name="Marcador de pie de página 4">
            <a:extLst>
              <a:ext uri="{FF2B5EF4-FFF2-40B4-BE49-F238E27FC236}">
                <a16:creationId xmlns:a16="http://schemas.microsoft.com/office/drawing/2014/main" id="{9F9C2709-866F-46C9-8324-BF4B162E2B7B}"/>
              </a:ext>
            </a:extLst>
          </p:cNvPr>
          <p:cNvSpPr>
            <a:spLocks noGrp="1"/>
          </p:cNvSpPr>
          <p:nvPr>
            <p:ph type="ftr" sz="quarter" idx="11"/>
          </p:nvPr>
        </p:nvSpPr>
        <p:spPr/>
        <p:txBody>
          <a:bodyPr/>
          <a:lstStyle/>
          <a:p>
            <a:endParaRPr lang="es-CU"/>
          </a:p>
        </p:txBody>
      </p:sp>
      <p:sp>
        <p:nvSpPr>
          <p:cNvPr id="6" name="Marcador de número de diapositiva 5">
            <a:extLst>
              <a:ext uri="{FF2B5EF4-FFF2-40B4-BE49-F238E27FC236}">
                <a16:creationId xmlns:a16="http://schemas.microsoft.com/office/drawing/2014/main" id="{F0F8E7C1-3432-4C3F-B55A-5D828B25CC0C}"/>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1023441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3FF97-4E4A-4E8C-B323-BC413AF546A4}"/>
              </a:ext>
            </a:extLst>
          </p:cNvPr>
          <p:cNvSpPr>
            <a:spLocks noGrp="1"/>
          </p:cNvSpPr>
          <p:nvPr>
            <p:ph type="title"/>
          </p:nvPr>
        </p:nvSpPr>
        <p:spPr/>
        <p:txBody>
          <a:bodyPr/>
          <a:lstStyle/>
          <a:p>
            <a:r>
              <a:rPr lang="es-ES"/>
              <a:t>Haga clic para modificar el estilo de título del patrón</a:t>
            </a:r>
            <a:endParaRPr lang="es-CU"/>
          </a:p>
        </p:txBody>
      </p:sp>
      <p:sp>
        <p:nvSpPr>
          <p:cNvPr id="3" name="Marcador de contenido 2">
            <a:extLst>
              <a:ext uri="{FF2B5EF4-FFF2-40B4-BE49-F238E27FC236}">
                <a16:creationId xmlns:a16="http://schemas.microsoft.com/office/drawing/2014/main" id="{B0B98271-DCB6-4A58-9880-A7518993EEA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4" name="Marcador de fecha 3">
            <a:extLst>
              <a:ext uri="{FF2B5EF4-FFF2-40B4-BE49-F238E27FC236}">
                <a16:creationId xmlns:a16="http://schemas.microsoft.com/office/drawing/2014/main" id="{C20C4D7A-42BD-44E7-84CB-5A06CDE8E1D5}"/>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5" name="Marcador de pie de página 4">
            <a:extLst>
              <a:ext uri="{FF2B5EF4-FFF2-40B4-BE49-F238E27FC236}">
                <a16:creationId xmlns:a16="http://schemas.microsoft.com/office/drawing/2014/main" id="{E5027F9C-2862-4891-B457-A6E99868A170}"/>
              </a:ext>
            </a:extLst>
          </p:cNvPr>
          <p:cNvSpPr>
            <a:spLocks noGrp="1"/>
          </p:cNvSpPr>
          <p:nvPr>
            <p:ph type="ftr" sz="quarter" idx="11"/>
          </p:nvPr>
        </p:nvSpPr>
        <p:spPr/>
        <p:txBody>
          <a:bodyPr/>
          <a:lstStyle/>
          <a:p>
            <a:endParaRPr lang="es-CU"/>
          </a:p>
        </p:txBody>
      </p:sp>
      <p:sp>
        <p:nvSpPr>
          <p:cNvPr id="6" name="Marcador de número de diapositiva 5">
            <a:extLst>
              <a:ext uri="{FF2B5EF4-FFF2-40B4-BE49-F238E27FC236}">
                <a16:creationId xmlns:a16="http://schemas.microsoft.com/office/drawing/2014/main" id="{D6F9E6C7-C83B-482B-8D83-B45E49D720B9}"/>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4234212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1AED74-76C3-4453-8A05-BB0C2C949D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U"/>
          </a:p>
        </p:txBody>
      </p:sp>
      <p:sp>
        <p:nvSpPr>
          <p:cNvPr id="3" name="Marcador de texto 2">
            <a:extLst>
              <a:ext uri="{FF2B5EF4-FFF2-40B4-BE49-F238E27FC236}">
                <a16:creationId xmlns:a16="http://schemas.microsoft.com/office/drawing/2014/main" id="{FE045DEC-11BE-4C84-B1EA-E9181CB680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2F732C7-7B7D-4968-AC9B-4F084951C0EF}"/>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5" name="Marcador de pie de página 4">
            <a:extLst>
              <a:ext uri="{FF2B5EF4-FFF2-40B4-BE49-F238E27FC236}">
                <a16:creationId xmlns:a16="http://schemas.microsoft.com/office/drawing/2014/main" id="{F1C6BA9E-B89F-449E-A652-B56E57D0EEA9}"/>
              </a:ext>
            </a:extLst>
          </p:cNvPr>
          <p:cNvSpPr>
            <a:spLocks noGrp="1"/>
          </p:cNvSpPr>
          <p:nvPr>
            <p:ph type="ftr" sz="quarter" idx="11"/>
          </p:nvPr>
        </p:nvSpPr>
        <p:spPr/>
        <p:txBody>
          <a:bodyPr/>
          <a:lstStyle/>
          <a:p>
            <a:endParaRPr lang="es-CU"/>
          </a:p>
        </p:txBody>
      </p:sp>
      <p:sp>
        <p:nvSpPr>
          <p:cNvPr id="6" name="Marcador de número de diapositiva 5">
            <a:extLst>
              <a:ext uri="{FF2B5EF4-FFF2-40B4-BE49-F238E27FC236}">
                <a16:creationId xmlns:a16="http://schemas.microsoft.com/office/drawing/2014/main" id="{2102D50A-6247-4041-8614-D97251BBC702}"/>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3746869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12AFB6-AE54-46F8-A66A-271DF22EE1D9}"/>
              </a:ext>
            </a:extLst>
          </p:cNvPr>
          <p:cNvSpPr>
            <a:spLocks noGrp="1"/>
          </p:cNvSpPr>
          <p:nvPr>
            <p:ph type="title"/>
          </p:nvPr>
        </p:nvSpPr>
        <p:spPr/>
        <p:txBody>
          <a:bodyPr/>
          <a:lstStyle/>
          <a:p>
            <a:r>
              <a:rPr lang="es-ES"/>
              <a:t>Haga clic para modificar el estilo de título del patrón</a:t>
            </a:r>
            <a:endParaRPr lang="es-CU"/>
          </a:p>
        </p:txBody>
      </p:sp>
      <p:sp>
        <p:nvSpPr>
          <p:cNvPr id="3" name="Marcador de contenido 2">
            <a:extLst>
              <a:ext uri="{FF2B5EF4-FFF2-40B4-BE49-F238E27FC236}">
                <a16:creationId xmlns:a16="http://schemas.microsoft.com/office/drawing/2014/main" id="{0A61D997-966B-4E0C-9C8D-22F2B9C96B6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4" name="Marcador de contenido 3">
            <a:extLst>
              <a:ext uri="{FF2B5EF4-FFF2-40B4-BE49-F238E27FC236}">
                <a16:creationId xmlns:a16="http://schemas.microsoft.com/office/drawing/2014/main" id="{F6CEE3D2-C1C4-4F42-B207-67D3E590E3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5" name="Marcador de fecha 4">
            <a:extLst>
              <a:ext uri="{FF2B5EF4-FFF2-40B4-BE49-F238E27FC236}">
                <a16:creationId xmlns:a16="http://schemas.microsoft.com/office/drawing/2014/main" id="{B3AA69A5-E43B-4974-83E6-D93C4924AE51}"/>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6" name="Marcador de pie de página 5">
            <a:extLst>
              <a:ext uri="{FF2B5EF4-FFF2-40B4-BE49-F238E27FC236}">
                <a16:creationId xmlns:a16="http://schemas.microsoft.com/office/drawing/2014/main" id="{50C3285A-2166-4BAC-AB4B-F92ADCB43FCA}"/>
              </a:ext>
            </a:extLst>
          </p:cNvPr>
          <p:cNvSpPr>
            <a:spLocks noGrp="1"/>
          </p:cNvSpPr>
          <p:nvPr>
            <p:ph type="ftr" sz="quarter" idx="11"/>
          </p:nvPr>
        </p:nvSpPr>
        <p:spPr/>
        <p:txBody>
          <a:bodyPr/>
          <a:lstStyle/>
          <a:p>
            <a:endParaRPr lang="es-CU"/>
          </a:p>
        </p:txBody>
      </p:sp>
      <p:sp>
        <p:nvSpPr>
          <p:cNvPr id="7" name="Marcador de número de diapositiva 6">
            <a:extLst>
              <a:ext uri="{FF2B5EF4-FFF2-40B4-BE49-F238E27FC236}">
                <a16:creationId xmlns:a16="http://schemas.microsoft.com/office/drawing/2014/main" id="{C2969BBF-D97A-45BA-AB2E-02B32FE404A2}"/>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1020117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344589-AC84-416C-9729-0C28DA490D9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U"/>
          </a:p>
        </p:txBody>
      </p:sp>
      <p:sp>
        <p:nvSpPr>
          <p:cNvPr id="3" name="Marcador de texto 2">
            <a:extLst>
              <a:ext uri="{FF2B5EF4-FFF2-40B4-BE49-F238E27FC236}">
                <a16:creationId xmlns:a16="http://schemas.microsoft.com/office/drawing/2014/main" id="{821FB204-B4E0-4C4D-B019-05C6F975E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0315DBF-EF48-4D6B-A9A6-812730A23DE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5" name="Marcador de texto 4">
            <a:extLst>
              <a:ext uri="{FF2B5EF4-FFF2-40B4-BE49-F238E27FC236}">
                <a16:creationId xmlns:a16="http://schemas.microsoft.com/office/drawing/2014/main" id="{79AC3462-19D2-472A-9A3D-AA794BD65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9584CF9-8E5D-4BE1-AB1F-FD13C1D28EB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7" name="Marcador de fecha 6">
            <a:extLst>
              <a:ext uri="{FF2B5EF4-FFF2-40B4-BE49-F238E27FC236}">
                <a16:creationId xmlns:a16="http://schemas.microsoft.com/office/drawing/2014/main" id="{6E7251C4-BB49-48A5-8168-314A6EF7B0B1}"/>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8" name="Marcador de pie de página 7">
            <a:extLst>
              <a:ext uri="{FF2B5EF4-FFF2-40B4-BE49-F238E27FC236}">
                <a16:creationId xmlns:a16="http://schemas.microsoft.com/office/drawing/2014/main" id="{93AF9278-61AF-43A6-9216-FE2015721ED7}"/>
              </a:ext>
            </a:extLst>
          </p:cNvPr>
          <p:cNvSpPr>
            <a:spLocks noGrp="1"/>
          </p:cNvSpPr>
          <p:nvPr>
            <p:ph type="ftr" sz="quarter" idx="11"/>
          </p:nvPr>
        </p:nvSpPr>
        <p:spPr/>
        <p:txBody>
          <a:bodyPr/>
          <a:lstStyle/>
          <a:p>
            <a:endParaRPr lang="es-CU"/>
          </a:p>
        </p:txBody>
      </p:sp>
      <p:sp>
        <p:nvSpPr>
          <p:cNvPr id="9" name="Marcador de número de diapositiva 8">
            <a:extLst>
              <a:ext uri="{FF2B5EF4-FFF2-40B4-BE49-F238E27FC236}">
                <a16:creationId xmlns:a16="http://schemas.microsoft.com/office/drawing/2014/main" id="{1D01E315-74F7-4DCF-98C3-E3E3B7BD5D73}"/>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2745535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E3F94B-A866-4EC2-B496-FB928E69C703}"/>
              </a:ext>
            </a:extLst>
          </p:cNvPr>
          <p:cNvSpPr>
            <a:spLocks noGrp="1"/>
          </p:cNvSpPr>
          <p:nvPr>
            <p:ph type="title"/>
          </p:nvPr>
        </p:nvSpPr>
        <p:spPr/>
        <p:txBody>
          <a:bodyPr/>
          <a:lstStyle/>
          <a:p>
            <a:r>
              <a:rPr lang="es-ES"/>
              <a:t>Haga clic para modificar el estilo de título del patrón</a:t>
            </a:r>
            <a:endParaRPr lang="es-CU"/>
          </a:p>
        </p:txBody>
      </p:sp>
      <p:sp>
        <p:nvSpPr>
          <p:cNvPr id="3" name="Marcador de fecha 2">
            <a:extLst>
              <a:ext uri="{FF2B5EF4-FFF2-40B4-BE49-F238E27FC236}">
                <a16:creationId xmlns:a16="http://schemas.microsoft.com/office/drawing/2014/main" id="{9B5722B4-59D4-47B5-AB56-2815E2B8B8E9}"/>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4" name="Marcador de pie de página 3">
            <a:extLst>
              <a:ext uri="{FF2B5EF4-FFF2-40B4-BE49-F238E27FC236}">
                <a16:creationId xmlns:a16="http://schemas.microsoft.com/office/drawing/2014/main" id="{EE0C2F40-E6A4-48A5-9D1C-DE1C0EADCC0F}"/>
              </a:ext>
            </a:extLst>
          </p:cNvPr>
          <p:cNvSpPr>
            <a:spLocks noGrp="1"/>
          </p:cNvSpPr>
          <p:nvPr>
            <p:ph type="ftr" sz="quarter" idx="11"/>
          </p:nvPr>
        </p:nvSpPr>
        <p:spPr/>
        <p:txBody>
          <a:bodyPr/>
          <a:lstStyle/>
          <a:p>
            <a:endParaRPr lang="es-CU"/>
          </a:p>
        </p:txBody>
      </p:sp>
      <p:sp>
        <p:nvSpPr>
          <p:cNvPr id="5" name="Marcador de número de diapositiva 4">
            <a:extLst>
              <a:ext uri="{FF2B5EF4-FFF2-40B4-BE49-F238E27FC236}">
                <a16:creationId xmlns:a16="http://schemas.microsoft.com/office/drawing/2014/main" id="{BC83092A-65DB-4116-853F-1358DF67D45F}"/>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1619206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946E505-C1CC-434D-BBF4-D1848F08FA9C}"/>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3" name="Marcador de pie de página 2">
            <a:extLst>
              <a:ext uri="{FF2B5EF4-FFF2-40B4-BE49-F238E27FC236}">
                <a16:creationId xmlns:a16="http://schemas.microsoft.com/office/drawing/2014/main" id="{6192BC4B-181C-464D-8658-ECD9D96A0DD3}"/>
              </a:ext>
            </a:extLst>
          </p:cNvPr>
          <p:cNvSpPr>
            <a:spLocks noGrp="1"/>
          </p:cNvSpPr>
          <p:nvPr>
            <p:ph type="ftr" sz="quarter" idx="11"/>
          </p:nvPr>
        </p:nvSpPr>
        <p:spPr/>
        <p:txBody>
          <a:bodyPr/>
          <a:lstStyle/>
          <a:p>
            <a:endParaRPr lang="es-CU"/>
          </a:p>
        </p:txBody>
      </p:sp>
      <p:sp>
        <p:nvSpPr>
          <p:cNvPr id="4" name="Marcador de número de diapositiva 3">
            <a:extLst>
              <a:ext uri="{FF2B5EF4-FFF2-40B4-BE49-F238E27FC236}">
                <a16:creationId xmlns:a16="http://schemas.microsoft.com/office/drawing/2014/main" id="{500B6E71-A8F9-4E98-8443-EB3E545CCCEE}"/>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4294137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050B4C-5ACB-4DA8-B189-6E5CF3D9C28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U"/>
          </a:p>
        </p:txBody>
      </p:sp>
      <p:sp>
        <p:nvSpPr>
          <p:cNvPr id="3" name="Marcador de contenido 2">
            <a:extLst>
              <a:ext uri="{FF2B5EF4-FFF2-40B4-BE49-F238E27FC236}">
                <a16:creationId xmlns:a16="http://schemas.microsoft.com/office/drawing/2014/main" id="{B2A6EA13-A115-4514-BF13-7426D90E79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4" name="Marcador de texto 3">
            <a:extLst>
              <a:ext uri="{FF2B5EF4-FFF2-40B4-BE49-F238E27FC236}">
                <a16:creationId xmlns:a16="http://schemas.microsoft.com/office/drawing/2014/main" id="{5EE86E14-D156-4B2C-A744-74B934C82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561100C-24C5-4000-BF65-F7C4998E7760}"/>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6" name="Marcador de pie de página 5">
            <a:extLst>
              <a:ext uri="{FF2B5EF4-FFF2-40B4-BE49-F238E27FC236}">
                <a16:creationId xmlns:a16="http://schemas.microsoft.com/office/drawing/2014/main" id="{7201E26C-B8B7-4083-A335-3E6C74617012}"/>
              </a:ext>
            </a:extLst>
          </p:cNvPr>
          <p:cNvSpPr>
            <a:spLocks noGrp="1"/>
          </p:cNvSpPr>
          <p:nvPr>
            <p:ph type="ftr" sz="quarter" idx="11"/>
          </p:nvPr>
        </p:nvSpPr>
        <p:spPr/>
        <p:txBody>
          <a:bodyPr/>
          <a:lstStyle/>
          <a:p>
            <a:endParaRPr lang="es-CU"/>
          </a:p>
        </p:txBody>
      </p:sp>
      <p:sp>
        <p:nvSpPr>
          <p:cNvPr id="7" name="Marcador de número de diapositiva 6">
            <a:extLst>
              <a:ext uri="{FF2B5EF4-FFF2-40B4-BE49-F238E27FC236}">
                <a16:creationId xmlns:a16="http://schemas.microsoft.com/office/drawing/2014/main" id="{584EC429-88E9-49E7-99B2-9B02B790E4C7}"/>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4234142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24AFF-3B6C-4039-A329-8E79D63AB7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U"/>
          </a:p>
        </p:txBody>
      </p:sp>
      <p:sp>
        <p:nvSpPr>
          <p:cNvPr id="3" name="Marcador de posición de imagen 2">
            <a:extLst>
              <a:ext uri="{FF2B5EF4-FFF2-40B4-BE49-F238E27FC236}">
                <a16:creationId xmlns:a16="http://schemas.microsoft.com/office/drawing/2014/main" id="{968D0632-5E9A-4B0B-AD7E-421FBB1AD8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U"/>
          </a:p>
        </p:txBody>
      </p:sp>
      <p:sp>
        <p:nvSpPr>
          <p:cNvPr id="4" name="Marcador de texto 3">
            <a:extLst>
              <a:ext uri="{FF2B5EF4-FFF2-40B4-BE49-F238E27FC236}">
                <a16:creationId xmlns:a16="http://schemas.microsoft.com/office/drawing/2014/main" id="{A87FC127-803D-4CD9-9DD3-8E0C49CF32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998064-B728-41C9-BA72-7C2E32E35CAE}"/>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6" name="Marcador de pie de página 5">
            <a:extLst>
              <a:ext uri="{FF2B5EF4-FFF2-40B4-BE49-F238E27FC236}">
                <a16:creationId xmlns:a16="http://schemas.microsoft.com/office/drawing/2014/main" id="{25EEF4E5-31B3-4F2C-8ED9-5B471D955D25}"/>
              </a:ext>
            </a:extLst>
          </p:cNvPr>
          <p:cNvSpPr>
            <a:spLocks noGrp="1"/>
          </p:cNvSpPr>
          <p:nvPr>
            <p:ph type="ftr" sz="quarter" idx="11"/>
          </p:nvPr>
        </p:nvSpPr>
        <p:spPr/>
        <p:txBody>
          <a:bodyPr/>
          <a:lstStyle/>
          <a:p>
            <a:endParaRPr lang="es-CU"/>
          </a:p>
        </p:txBody>
      </p:sp>
      <p:sp>
        <p:nvSpPr>
          <p:cNvPr id="7" name="Marcador de número de diapositiva 6">
            <a:extLst>
              <a:ext uri="{FF2B5EF4-FFF2-40B4-BE49-F238E27FC236}">
                <a16:creationId xmlns:a16="http://schemas.microsoft.com/office/drawing/2014/main" id="{6C08E44C-FA6B-437A-9223-45556E9A3AA9}"/>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3342726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D2F871-6C5E-4557-991A-39073C1E6B3E}"/>
              </a:ext>
            </a:extLst>
          </p:cNvPr>
          <p:cNvSpPr>
            <a:spLocks noGrp="1"/>
          </p:cNvSpPr>
          <p:nvPr>
            <p:ph type="title"/>
          </p:nvPr>
        </p:nvSpPr>
        <p:spPr/>
        <p:txBody>
          <a:bodyPr/>
          <a:lstStyle/>
          <a:p>
            <a:r>
              <a:rPr lang="es-ES"/>
              <a:t>Haga clic para modificar el estilo de título del patrón</a:t>
            </a:r>
            <a:endParaRPr lang="es-CU"/>
          </a:p>
        </p:txBody>
      </p:sp>
      <p:sp>
        <p:nvSpPr>
          <p:cNvPr id="3" name="Marcador de texto vertical 2">
            <a:extLst>
              <a:ext uri="{FF2B5EF4-FFF2-40B4-BE49-F238E27FC236}">
                <a16:creationId xmlns:a16="http://schemas.microsoft.com/office/drawing/2014/main" id="{27ECD087-7C60-45A3-9AD5-400ABF82F15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4" name="Marcador de fecha 3">
            <a:extLst>
              <a:ext uri="{FF2B5EF4-FFF2-40B4-BE49-F238E27FC236}">
                <a16:creationId xmlns:a16="http://schemas.microsoft.com/office/drawing/2014/main" id="{EEF37F85-3371-46C2-A30C-5FCF34494DD3}"/>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5" name="Marcador de pie de página 4">
            <a:extLst>
              <a:ext uri="{FF2B5EF4-FFF2-40B4-BE49-F238E27FC236}">
                <a16:creationId xmlns:a16="http://schemas.microsoft.com/office/drawing/2014/main" id="{319616B1-D832-4E3D-B0CA-CD2D8561F185}"/>
              </a:ext>
            </a:extLst>
          </p:cNvPr>
          <p:cNvSpPr>
            <a:spLocks noGrp="1"/>
          </p:cNvSpPr>
          <p:nvPr>
            <p:ph type="ftr" sz="quarter" idx="11"/>
          </p:nvPr>
        </p:nvSpPr>
        <p:spPr/>
        <p:txBody>
          <a:bodyPr/>
          <a:lstStyle/>
          <a:p>
            <a:endParaRPr lang="es-CU"/>
          </a:p>
        </p:txBody>
      </p:sp>
      <p:sp>
        <p:nvSpPr>
          <p:cNvPr id="6" name="Marcador de número de diapositiva 5">
            <a:extLst>
              <a:ext uri="{FF2B5EF4-FFF2-40B4-BE49-F238E27FC236}">
                <a16:creationId xmlns:a16="http://schemas.microsoft.com/office/drawing/2014/main" id="{1F5A164C-0709-4105-AC5D-BD90E4BFE1B4}"/>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414818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6D9B714-C390-49A0-94EC-65404483969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U"/>
          </a:p>
        </p:txBody>
      </p:sp>
      <p:sp>
        <p:nvSpPr>
          <p:cNvPr id="3" name="Marcador de texto vertical 2">
            <a:extLst>
              <a:ext uri="{FF2B5EF4-FFF2-40B4-BE49-F238E27FC236}">
                <a16:creationId xmlns:a16="http://schemas.microsoft.com/office/drawing/2014/main" id="{D3468E6E-E9DC-4F0E-99CF-5563E1559B0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4" name="Marcador de fecha 3">
            <a:extLst>
              <a:ext uri="{FF2B5EF4-FFF2-40B4-BE49-F238E27FC236}">
                <a16:creationId xmlns:a16="http://schemas.microsoft.com/office/drawing/2014/main" id="{A2B11D66-5810-4561-BD82-F1BE8D3A9A4A}"/>
              </a:ext>
            </a:extLst>
          </p:cNvPr>
          <p:cNvSpPr>
            <a:spLocks noGrp="1"/>
          </p:cNvSpPr>
          <p:nvPr>
            <p:ph type="dt" sz="half" idx="10"/>
          </p:nvPr>
        </p:nvSpPr>
        <p:spPr/>
        <p:txBody>
          <a:bodyPr/>
          <a:lstStyle/>
          <a:p>
            <a:fld id="{E5D56F23-0594-4641-874D-A132547DA902}" type="datetimeFigureOut">
              <a:rPr lang="es-CU" smtClean="0"/>
              <a:t>25/5/2025</a:t>
            </a:fld>
            <a:endParaRPr lang="es-CU"/>
          </a:p>
        </p:txBody>
      </p:sp>
      <p:sp>
        <p:nvSpPr>
          <p:cNvPr id="5" name="Marcador de pie de página 4">
            <a:extLst>
              <a:ext uri="{FF2B5EF4-FFF2-40B4-BE49-F238E27FC236}">
                <a16:creationId xmlns:a16="http://schemas.microsoft.com/office/drawing/2014/main" id="{01EC2E60-DC8E-430D-A69A-0B9F6C9D0277}"/>
              </a:ext>
            </a:extLst>
          </p:cNvPr>
          <p:cNvSpPr>
            <a:spLocks noGrp="1"/>
          </p:cNvSpPr>
          <p:nvPr>
            <p:ph type="ftr" sz="quarter" idx="11"/>
          </p:nvPr>
        </p:nvSpPr>
        <p:spPr/>
        <p:txBody>
          <a:bodyPr/>
          <a:lstStyle/>
          <a:p>
            <a:endParaRPr lang="es-CU"/>
          </a:p>
        </p:txBody>
      </p:sp>
      <p:sp>
        <p:nvSpPr>
          <p:cNvPr id="6" name="Marcador de número de diapositiva 5">
            <a:extLst>
              <a:ext uri="{FF2B5EF4-FFF2-40B4-BE49-F238E27FC236}">
                <a16:creationId xmlns:a16="http://schemas.microsoft.com/office/drawing/2014/main" id="{B2BE5655-95E0-44A0-B250-0AFF44E317A1}"/>
              </a:ext>
            </a:extLst>
          </p:cNvPr>
          <p:cNvSpPr>
            <a:spLocks noGrp="1"/>
          </p:cNvSpPr>
          <p:nvPr>
            <p:ph type="sldNum" sz="quarter" idx="12"/>
          </p:nvPr>
        </p:nvSpPr>
        <p:spPr/>
        <p:txBody>
          <a:bodyPr/>
          <a:lstStyle/>
          <a:p>
            <a:fld id="{38C83637-B514-4CF6-B83C-51AB7235EFEF}" type="slidenum">
              <a:rPr lang="es-CU" smtClean="0"/>
              <a:t>‹Nº›</a:t>
            </a:fld>
            <a:endParaRPr lang="es-CU"/>
          </a:p>
        </p:txBody>
      </p:sp>
    </p:spTree>
    <p:extLst>
      <p:ext uri="{BB962C8B-B14F-4D97-AF65-F5344CB8AC3E}">
        <p14:creationId xmlns:p14="http://schemas.microsoft.com/office/powerpoint/2010/main" val="2488430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D9E4E4C-7969-47BB-85B7-9D449ED778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U"/>
          </a:p>
        </p:txBody>
      </p:sp>
      <p:sp>
        <p:nvSpPr>
          <p:cNvPr id="3" name="Marcador de texto 2">
            <a:extLst>
              <a:ext uri="{FF2B5EF4-FFF2-40B4-BE49-F238E27FC236}">
                <a16:creationId xmlns:a16="http://schemas.microsoft.com/office/drawing/2014/main" id="{29E03378-0607-456E-81B3-081392CFA0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U"/>
          </a:p>
        </p:txBody>
      </p:sp>
      <p:sp>
        <p:nvSpPr>
          <p:cNvPr id="4" name="Marcador de fecha 3">
            <a:extLst>
              <a:ext uri="{FF2B5EF4-FFF2-40B4-BE49-F238E27FC236}">
                <a16:creationId xmlns:a16="http://schemas.microsoft.com/office/drawing/2014/main" id="{A46AEDD3-A3D0-4735-BC72-3167C27679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D56F23-0594-4641-874D-A132547DA902}" type="datetimeFigureOut">
              <a:rPr lang="es-CU" smtClean="0"/>
              <a:t>25/5/2025</a:t>
            </a:fld>
            <a:endParaRPr lang="es-CU"/>
          </a:p>
        </p:txBody>
      </p:sp>
      <p:sp>
        <p:nvSpPr>
          <p:cNvPr id="5" name="Marcador de pie de página 4">
            <a:extLst>
              <a:ext uri="{FF2B5EF4-FFF2-40B4-BE49-F238E27FC236}">
                <a16:creationId xmlns:a16="http://schemas.microsoft.com/office/drawing/2014/main" id="{E69F02BD-CE58-424C-9F25-3B900814AB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U"/>
          </a:p>
        </p:txBody>
      </p:sp>
      <p:sp>
        <p:nvSpPr>
          <p:cNvPr id="6" name="Marcador de número de diapositiva 5">
            <a:extLst>
              <a:ext uri="{FF2B5EF4-FFF2-40B4-BE49-F238E27FC236}">
                <a16:creationId xmlns:a16="http://schemas.microsoft.com/office/drawing/2014/main" id="{4D9E5A62-D9AF-46C9-A344-42D5831F3A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C83637-B514-4CF6-B83C-51AB7235EFEF}" type="slidenum">
              <a:rPr lang="es-CU" smtClean="0"/>
              <a:t>‹Nº›</a:t>
            </a:fld>
            <a:endParaRPr lang="es-CU"/>
          </a:p>
        </p:txBody>
      </p:sp>
    </p:spTree>
    <p:extLst>
      <p:ext uri="{BB962C8B-B14F-4D97-AF65-F5344CB8AC3E}">
        <p14:creationId xmlns:p14="http://schemas.microsoft.com/office/powerpoint/2010/main" val="3756577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ángulo 38">
            <a:extLst>
              <a:ext uri="{FF2B5EF4-FFF2-40B4-BE49-F238E27FC236}">
                <a16:creationId xmlns:a16="http://schemas.microsoft.com/office/drawing/2014/main" id="{30B859FA-9F71-4A8D-9269-D8A34D44C4B7}"/>
              </a:ext>
            </a:extLst>
          </p:cNvPr>
          <p:cNvSpPr/>
          <p:nvPr/>
        </p:nvSpPr>
        <p:spPr>
          <a:xfrm>
            <a:off x="3314490" y="83410"/>
            <a:ext cx="6131168" cy="36009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CU" sz="2000" dirty="0"/>
              <a:t>Para automatizar la entrada de información de Programa</a:t>
            </a:r>
          </a:p>
        </p:txBody>
      </p:sp>
      <p:sp>
        <p:nvSpPr>
          <p:cNvPr id="24" name="CuadroTexto 23">
            <a:extLst>
              <a:ext uri="{FF2B5EF4-FFF2-40B4-BE49-F238E27FC236}">
                <a16:creationId xmlns:a16="http://schemas.microsoft.com/office/drawing/2014/main" id="{6DF30CC6-CCB9-45C7-BB3B-B25EDAB7D39C}"/>
              </a:ext>
            </a:extLst>
          </p:cNvPr>
          <p:cNvSpPr txBox="1"/>
          <p:nvPr/>
        </p:nvSpPr>
        <p:spPr>
          <a:xfrm>
            <a:off x="923827" y="820132"/>
            <a:ext cx="10576874" cy="4524315"/>
          </a:xfrm>
          <a:prstGeom prst="rect">
            <a:avLst/>
          </a:prstGeom>
          <a:noFill/>
        </p:spPr>
        <p:txBody>
          <a:bodyPr wrap="square" rtlCol="0">
            <a:spAutoFit/>
          </a:bodyPr>
          <a:lstStyle/>
          <a:p>
            <a:r>
              <a:rPr lang="es-CU" dirty="0"/>
              <a:t>Los datos del programa solo podrán completados por el rol de vicerrector:</a:t>
            </a:r>
          </a:p>
          <a:p>
            <a:endParaRPr lang="es-CU" dirty="0"/>
          </a:p>
          <a:p>
            <a:r>
              <a:rPr lang="es-CU" dirty="0"/>
              <a:t>En la </a:t>
            </a:r>
            <a:r>
              <a:rPr lang="es-CU" b="1" dirty="0"/>
              <a:t>configuración</a:t>
            </a:r>
            <a:r>
              <a:rPr lang="es-CU" dirty="0"/>
              <a:t> el incluir los </a:t>
            </a:r>
            <a:r>
              <a:rPr lang="es-CU" dirty="0" err="1"/>
              <a:t>CRUDs</a:t>
            </a:r>
            <a:r>
              <a:rPr lang="es-CU" dirty="0"/>
              <a:t>:</a:t>
            </a:r>
          </a:p>
          <a:p>
            <a:pPr marL="285750" indent="-285750">
              <a:buFont typeface="Arial" panose="020B0604020202020204" pitchFamily="34" charset="0"/>
              <a:buChar char="•"/>
            </a:pPr>
            <a:r>
              <a:rPr lang="es-ES" b="1" dirty="0"/>
              <a:t>Tipo de  programa </a:t>
            </a:r>
            <a:r>
              <a:rPr lang="es-ES" dirty="0"/>
              <a:t>(</a:t>
            </a:r>
            <a:r>
              <a:rPr lang="es-ES" dirty="0" err="1"/>
              <a:t>Ej</a:t>
            </a:r>
            <a:r>
              <a:rPr lang="es-ES" dirty="0"/>
              <a:t>: </a:t>
            </a:r>
            <a:r>
              <a:rPr lang="en-US" dirty="0"/>
              <a:t> </a:t>
            </a:r>
            <a:r>
              <a:rPr lang="en-US" dirty="0" err="1"/>
              <a:t>Programas</a:t>
            </a:r>
            <a:r>
              <a:rPr lang="en-US" dirty="0"/>
              <a:t> </a:t>
            </a:r>
            <a:r>
              <a:rPr lang="en-US" dirty="0" err="1"/>
              <a:t>Sectoriales</a:t>
            </a:r>
            <a:r>
              <a:rPr lang="en-US" dirty="0"/>
              <a:t> (PAPS), </a:t>
            </a:r>
            <a:r>
              <a:rPr lang="en-US" dirty="0" err="1"/>
              <a:t>Programas</a:t>
            </a:r>
            <a:r>
              <a:rPr lang="en-US" dirty="0"/>
              <a:t> </a:t>
            </a:r>
            <a:r>
              <a:rPr lang="en-US" dirty="0" err="1"/>
              <a:t>Territoriales</a:t>
            </a:r>
            <a:r>
              <a:rPr lang="en-US" dirty="0"/>
              <a:t> (PAPT), </a:t>
            </a:r>
            <a:r>
              <a:rPr lang="en-US" dirty="0" err="1"/>
              <a:t>Programas</a:t>
            </a:r>
            <a:r>
              <a:rPr lang="en-US" dirty="0"/>
              <a:t> (PNAP),…) debe </a:t>
            </a:r>
            <a:r>
              <a:rPr lang="en-US" dirty="0" err="1"/>
              <a:t>incluir</a:t>
            </a:r>
            <a:r>
              <a:rPr lang="en-US" dirty="0"/>
              <a:t> </a:t>
            </a:r>
            <a:r>
              <a:rPr lang="en-US" dirty="0" err="1"/>
              <a:t>en</a:t>
            </a:r>
            <a:r>
              <a:rPr lang="en-US" dirty="0"/>
              <a:t> </a:t>
            </a:r>
            <a:r>
              <a:rPr lang="en-US" dirty="0" err="1"/>
              <a:t>el</a:t>
            </a:r>
            <a:r>
              <a:rPr lang="en-US" dirty="0"/>
              <a:t> CRUD los </a:t>
            </a:r>
            <a:r>
              <a:rPr lang="en-US" dirty="0" err="1"/>
              <a:t>campos</a:t>
            </a:r>
            <a:r>
              <a:rPr lang="en-US" dirty="0"/>
              <a:t>: </a:t>
            </a:r>
            <a:r>
              <a:rPr lang="en-US" b="1" i="1" dirty="0" err="1"/>
              <a:t>nombre</a:t>
            </a:r>
            <a:r>
              <a:rPr lang="en-US" b="1" i="1" dirty="0"/>
              <a:t> del </a:t>
            </a:r>
            <a:r>
              <a:rPr lang="en-US" b="1" i="1" dirty="0" err="1"/>
              <a:t>programa</a:t>
            </a:r>
            <a:r>
              <a:rPr lang="en-US" b="1" i="1" dirty="0"/>
              <a:t> </a:t>
            </a:r>
            <a:r>
              <a:rPr lang="en-US" dirty="0"/>
              <a:t>y </a:t>
            </a:r>
            <a:r>
              <a:rPr lang="en-US" b="1" i="1" dirty="0"/>
              <a:t>sigla</a:t>
            </a:r>
            <a:r>
              <a:rPr lang="en-US" dirty="0"/>
              <a:t>.</a:t>
            </a:r>
          </a:p>
          <a:p>
            <a:pPr marL="285750" indent="-285750">
              <a:buFont typeface="Arial" panose="020B0604020202020204" pitchFamily="34" charset="0"/>
              <a:buChar char="•"/>
            </a:pPr>
            <a:r>
              <a:rPr lang="es-ES" b="1" dirty="0"/>
              <a:t>Sector Estratégico</a:t>
            </a:r>
            <a:r>
              <a:rPr lang="es-ES" dirty="0"/>
              <a:t>: (</a:t>
            </a:r>
            <a:r>
              <a:rPr lang="es-ES" dirty="0" err="1"/>
              <a:t>Ej</a:t>
            </a:r>
            <a:r>
              <a:rPr lang="es-ES" dirty="0"/>
              <a:t>: Turismo y su diversificación, Servicios profesionales en especial los médicos, Farmacéutico, biotecnológico, Plan Turquino…), con el campo </a:t>
            </a:r>
            <a:r>
              <a:rPr lang="es-ES" b="1" i="1" dirty="0"/>
              <a:t>nombre</a:t>
            </a:r>
            <a:r>
              <a:rPr lang="es-ES" dirty="0"/>
              <a:t>.</a:t>
            </a:r>
          </a:p>
          <a:p>
            <a:pPr marL="285750" indent="-285750">
              <a:buFont typeface="Arial" panose="020B0604020202020204" pitchFamily="34" charset="0"/>
              <a:buChar char="•"/>
            </a:pPr>
            <a:r>
              <a:rPr lang="es-ES" b="1" dirty="0"/>
              <a:t>Línea de investigación de la UHO</a:t>
            </a:r>
            <a:r>
              <a:rPr lang="es-ES" dirty="0"/>
              <a:t>: ( </a:t>
            </a:r>
            <a:r>
              <a:rPr lang="es-ES" dirty="0" err="1"/>
              <a:t>Ej</a:t>
            </a:r>
            <a:r>
              <a:rPr lang="es-ES" dirty="0"/>
              <a:t>: Transformación Digital, Agroalimentaria, etc.), con el campo </a:t>
            </a:r>
            <a:r>
              <a:rPr lang="es-ES" b="1" i="1" dirty="0"/>
              <a:t>nombre</a:t>
            </a:r>
            <a:r>
              <a:rPr lang="es-ES" dirty="0"/>
              <a:t>.</a:t>
            </a:r>
          </a:p>
          <a:p>
            <a:pPr marL="285750" indent="-285750">
              <a:buFont typeface="Arial" panose="020B0604020202020204" pitchFamily="34" charset="0"/>
              <a:buChar char="•"/>
            </a:pPr>
            <a:r>
              <a:rPr lang="es-ES" b="1" dirty="0"/>
              <a:t>Tipo de participación</a:t>
            </a:r>
            <a:r>
              <a:rPr lang="es-ES" dirty="0"/>
              <a:t>: (Coordinador, Experto, Investigador …), solo con el campo </a:t>
            </a:r>
            <a:r>
              <a:rPr lang="es-ES" b="1" i="1" dirty="0"/>
              <a:t>nombre.</a:t>
            </a: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s-CU" dirty="0"/>
          </a:p>
          <a:p>
            <a:endParaRPr lang="es-CU" dirty="0"/>
          </a:p>
          <a:p>
            <a:pPr marL="285750" indent="-285750">
              <a:buFont typeface="Arial" panose="020B0604020202020204" pitchFamily="34" charset="0"/>
              <a:buChar char="•"/>
            </a:pPr>
            <a:endParaRPr lang="es-CU" dirty="0"/>
          </a:p>
        </p:txBody>
      </p:sp>
    </p:spTree>
    <p:extLst>
      <p:ext uri="{BB962C8B-B14F-4D97-AF65-F5344CB8AC3E}">
        <p14:creationId xmlns:p14="http://schemas.microsoft.com/office/powerpoint/2010/main" val="697291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ángulo: esquinas redondeadas 16">
            <a:extLst>
              <a:ext uri="{FF2B5EF4-FFF2-40B4-BE49-F238E27FC236}">
                <a16:creationId xmlns:a16="http://schemas.microsoft.com/office/drawing/2014/main" id="{027BABF5-8F7F-4CD3-BAC8-6E245105859E}"/>
              </a:ext>
            </a:extLst>
          </p:cNvPr>
          <p:cNvSpPr/>
          <p:nvPr/>
        </p:nvSpPr>
        <p:spPr>
          <a:xfrm>
            <a:off x="418891" y="854891"/>
            <a:ext cx="10919471" cy="3549084"/>
          </a:xfrm>
          <a:prstGeom prst="roundRect">
            <a:avLst/>
          </a:prstGeom>
          <a:solidFill>
            <a:schemeClr val="bg1"/>
          </a:solid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dirty="0"/>
          </a:p>
        </p:txBody>
      </p:sp>
      <p:sp>
        <p:nvSpPr>
          <p:cNvPr id="18" name="CuadroTexto 17">
            <a:extLst>
              <a:ext uri="{FF2B5EF4-FFF2-40B4-BE49-F238E27FC236}">
                <a16:creationId xmlns:a16="http://schemas.microsoft.com/office/drawing/2014/main" id="{F3842D40-C4C0-47C0-A1AB-9DD9AD5DD1F8}"/>
              </a:ext>
            </a:extLst>
          </p:cNvPr>
          <p:cNvSpPr txBox="1"/>
          <p:nvPr/>
        </p:nvSpPr>
        <p:spPr>
          <a:xfrm>
            <a:off x="638243" y="1017742"/>
            <a:ext cx="4304340" cy="369332"/>
          </a:xfrm>
          <a:prstGeom prst="rect">
            <a:avLst/>
          </a:prstGeom>
          <a:noFill/>
        </p:spPr>
        <p:txBody>
          <a:bodyPr wrap="square" rtlCol="0">
            <a:spAutoFit/>
          </a:bodyPr>
          <a:lstStyle/>
          <a:p>
            <a:r>
              <a:rPr lang="es-ES" dirty="0"/>
              <a:t>Nombre del programa</a:t>
            </a:r>
            <a:r>
              <a:rPr lang="es-CU" sz="1800" b="1" dirty="0">
                <a:solidFill>
                  <a:srgbClr val="FF0000"/>
                </a:solidFill>
              </a:rPr>
              <a:t>*</a:t>
            </a:r>
            <a:endParaRPr lang="es-CU" dirty="0"/>
          </a:p>
        </p:txBody>
      </p:sp>
      <p:sp>
        <p:nvSpPr>
          <p:cNvPr id="19" name="Rectángulo 18">
            <a:extLst>
              <a:ext uri="{FF2B5EF4-FFF2-40B4-BE49-F238E27FC236}">
                <a16:creationId xmlns:a16="http://schemas.microsoft.com/office/drawing/2014/main" id="{EE653164-DFAB-458D-9C20-1DBA4D0BEFB0}"/>
              </a:ext>
            </a:extLst>
          </p:cNvPr>
          <p:cNvSpPr/>
          <p:nvPr/>
        </p:nvSpPr>
        <p:spPr>
          <a:xfrm>
            <a:off x="744608" y="1307888"/>
            <a:ext cx="9886523"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29" name="Rectángulo 28">
            <a:extLst>
              <a:ext uri="{FF2B5EF4-FFF2-40B4-BE49-F238E27FC236}">
                <a16:creationId xmlns:a16="http://schemas.microsoft.com/office/drawing/2014/main" id="{1C84FF10-3743-424D-9458-084450055F93}"/>
              </a:ext>
            </a:extLst>
          </p:cNvPr>
          <p:cNvSpPr/>
          <p:nvPr/>
        </p:nvSpPr>
        <p:spPr>
          <a:xfrm>
            <a:off x="937763" y="705810"/>
            <a:ext cx="2622887" cy="29893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Datos del Programa</a:t>
            </a:r>
            <a:endParaRPr lang="es-CU" dirty="0"/>
          </a:p>
        </p:txBody>
      </p:sp>
      <p:sp>
        <p:nvSpPr>
          <p:cNvPr id="30" name="CuadroTexto 29">
            <a:extLst>
              <a:ext uri="{FF2B5EF4-FFF2-40B4-BE49-F238E27FC236}">
                <a16:creationId xmlns:a16="http://schemas.microsoft.com/office/drawing/2014/main" id="{B31F3E3F-E2D7-498E-8550-DF137FD6C863}"/>
              </a:ext>
            </a:extLst>
          </p:cNvPr>
          <p:cNvSpPr txBox="1"/>
          <p:nvPr/>
        </p:nvSpPr>
        <p:spPr>
          <a:xfrm>
            <a:off x="744609" y="1678324"/>
            <a:ext cx="2061119" cy="646331"/>
          </a:xfrm>
          <a:prstGeom prst="rect">
            <a:avLst/>
          </a:prstGeom>
          <a:noFill/>
        </p:spPr>
        <p:txBody>
          <a:bodyPr wrap="square" rtlCol="0">
            <a:spAutoFit/>
          </a:bodyPr>
          <a:lstStyle/>
          <a:p>
            <a:r>
              <a:rPr lang="es-ES" dirty="0"/>
              <a:t>Tipo de programa</a:t>
            </a:r>
            <a:r>
              <a:rPr lang="es-CU" sz="1800" b="1" dirty="0">
                <a:solidFill>
                  <a:srgbClr val="FF0000"/>
                </a:solidFill>
              </a:rPr>
              <a:t> *</a:t>
            </a:r>
            <a:r>
              <a:rPr lang="es-ES" dirty="0"/>
              <a:t> evento</a:t>
            </a:r>
            <a:r>
              <a:rPr lang="es-CU" sz="1800" b="1" dirty="0">
                <a:solidFill>
                  <a:srgbClr val="FF0000"/>
                </a:solidFill>
              </a:rPr>
              <a:t> *</a:t>
            </a:r>
            <a:endParaRPr lang="es-CU" dirty="0"/>
          </a:p>
        </p:txBody>
      </p:sp>
      <p:sp>
        <p:nvSpPr>
          <p:cNvPr id="31" name="Rectángulo 30">
            <a:extLst>
              <a:ext uri="{FF2B5EF4-FFF2-40B4-BE49-F238E27FC236}">
                <a16:creationId xmlns:a16="http://schemas.microsoft.com/office/drawing/2014/main" id="{79F591C7-9525-4627-AE32-A76F179031C0}"/>
              </a:ext>
            </a:extLst>
          </p:cNvPr>
          <p:cNvSpPr/>
          <p:nvPr/>
        </p:nvSpPr>
        <p:spPr>
          <a:xfrm>
            <a:off x="744609" y="1995993"/>
            <a:ext cx="3719441"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39" name="Rectángulo 38">
            <a:extLst>
              <a:ext uri="{FF2B5EF4-FFF2-40B4-BE49-F238E27FC236}">
                <a16:creationId xmlns:a16="http://schemas.microsoft.com/office/drawing/2014/main" id="{30B859FA-9F71-4A8D-9269-D8A34D44C4B7}"/>
              </a:ext>
            </a:extLst>
          </p:cNvPr>
          <p:cNvSpPr/>
          <p:nvPr/>
        </p:nvSpPr>
        <p:spPr>
          <a:xfrm>
            <a:off x="3314490" y="83410"/>
            <a:ext cx="5032342" cy="36009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CU" sz="2000" dirty="0"/>
              <a:t>REGISTRAR PROGRAMA</a:t>
            </a:r>
          </a:p>
        </p:txBody>
      </p:sp>
      <p:sp>
        <p:nvSpPr>
          <p:cNvPr id="62" name="Rectángulo: esquinas redondeadas 61">
            <a:extLst>
              <a:ext uri="{FF2B5EF4-FFF2-40B4-BE49-F238E27FC236}">
                <a16:creationId xmlns:a16="http://schemas.microsoft.com/office/drawing/2014/main" id="{207C6034-1A31-497C-899B-9D7586C41767}"/>
              </a:ext>
            </a:extLst>
          </p:cNvPr>
          <p:cNvSpPr/>
          <p:nvPr/>
        </p:nvSpPr>
        <p:spPr>
          <a:xfrm>
            <a:off x="841850" y="1335923"/>
            <a:ext cx="9693995"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Añadir </a:t>
            </a:r>
            <a:r>
              <a:rPr lang="es-CU" sz="1400" dirty="0">
                <a:solidFill>
                  <a:schemeClr val="bg1">
                    <a:lumMod val="85000"/>
                  </a:schemeClr>
                </a:solidFill>
              </a:rPr>
              <a:t>uno nuevo</a:t>
            </a:r>
          </a:p>
        </p:txBody>
      </p:sp>
      <p:sp>
        <p:nvSpPr>
          <p:cNvPr id="63" name="Rectángulo: esquinas redondeadas 62">
            <a:extLst>
              <a:ext uri="{FF2B5EF4-FFF2-40B4-BE49-F238E27FC236}">
                <a16:creationId xmlns:a16="http://schemas.microsoft.com/office/drawing/2014/main" id="{479B3BA2-E681-47D5-A18F-C01D16A9B8A9}"/>
              </a:ext>
            </a:extLst>
          </p:cNvPr>
          <p:cNvSpPr/>
          <p:nvPr/>
        </p:nvSpPr>
        <p:spPr>
          <a:xfrm>
            <a:off x="853638" y="2021462"/>
            <a:ext cx="3014979"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Escoger tipo programa (CRUD)</a:t>
            </a:r>
            <a:endParaRPr lang="es-CU" sz="1400" dirty="0">
              <a:solidFill>
                <a:schemeClr val="bg1">
                  <a:lumMod val="85000"/>
                </a:schemeClr>
              </a:solidFill>
            </a:endParaRPr>
          </a:p>
        </p:txBody>
      </p:sp>
      <p:sp>
        <p:nvSpPr>
          <p:cNvPr id="71" name="Botón de acción: ir hacia atrás o anterior 70">
            <a:hlinkClick r:id="" action="ppaction://hlinkshowjump?jump=previousslide" highlightClick="1"/>
            <a:extLst>
              <a:ext uri="{FF2B5EF4-FFF2-40B4-BE49-F238E27FC236}">
                <a16:creationId xmlns:a16="http://schemas.microsoft.com/office/drawing/2014/main" id="{3E93298B-F71E-445C-B9A4-C79E72817560}"/>
              </a:ext>
            </a:extLst>
          </p:cNvPr>
          <p:cNvSpPr/>
          <p:nvPr/>
        </p:nvSpPr>
        <p:spPr>
          <a:xfrm rot="16200000">
            <a:off x="4172495" y="1962334"/>
            <a:ext cx="288955" cy="348744"/>
          </a:xfrm>
          <a:prstGeom prst="actionButtonBackPreviou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dirty="0"/>
          </a:p>
        </p:txBody>
      </p:sp>
      <p:sp>
        <p:nvSpPr>
          <p:cNvPr id="49" name="CuadroTexto 48">
            <a:extLst>
              <a:ext uri="{FF2B5EF4-FFF2-40B4-BE49-F238E27FC236}">
                <a16:creationId xmlns:a16="http://schemas.microsoft.com/office/drawing/2014/main" id="{566747CE-FFCD-4BC0-85EA-56D471741A8D}"/>
              </a:ext>
            </a:extLst>
          </p:cNvPr>
          <p:cNvSpPr txBox="1"/>
          <p:nvPr/>
        </p:nvSpPr>
        <p:spPr>
          <a:xfrm>
            <a:off x="4690941" y="1667972"/>
            <a:ext cx="2774479" cy="369332"/>
          </a:xfrm>
          <a:prstGeom prst="rect">
            <a:avLst/>
          </a:prstGeom>
          <a:noFill/>
        </p:spPr>
        <p:txBody>
          <a:bodyPr wrap="square" rtlCol="0">
            <a:spAutoFit/>
          </a:bodyPr>
          <a:lstStyle/>
          <a:p>
            <a:r>
              <a:rPr lang="es-ES" dirty="0"/>
              <a:t>Organismo</a:t>
            </a:r>
            <a:r>
              <a:rPr lang="es-CU" sz="1800" b="1" dirty="0">
                <a:solidFill>
                  <a:srgbClr val="FF0000"/>
                </a:solidFill>
              </a:rPr>
              <a:t>*</a:t>
            </a:r>
            <a:endParaRPr lang="es-CU" dirty="0"/>
          </a:p>
        </p:txBody>
      </p:sp>
      <p:sp>
        <p:nvSpPr>
          <p:cNvPr id="50" name="Rectángulo 49">
            <a:extLst>
              <a:ext uri="{FF2B5EF4-FFF2-40B4-BE49-F238E27FC236}">
                <a16:creationId xmlns:a16="http://schemas.microsoft.com/office/drawing/2014/main" id="{27300EC9-F2CF-4E02-9973-D1D0A70F158C}"/>
              </a:ext>
            </a:extLst>
          </p:cNvPr>
          <p:cNvSpPr/>
          <p:nvPr/>
        </p:nvSpPr>
        <p:spPr>
          <a:xfrm>
            <a:off x="4754540" y="1963361"/>
            <a:ext cx="2616566"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52" name="Rectángulo: esquinas redondeadas 51">
            <a:extLst>
              <a:ext uri="{FF2B5EF4-FFF2-40B4-BE49-F238E27FC236}">
                <a16:creationId xmlns:a16="http://schemas.microsoft.com/office/drawing/2014/main" id="{68097378-F847-467E-85CE-6A4E053C4F46}"/>
              </a:ext>
            </a:extLst>
          </p:cNvPr>
          <p:cNvSpPr/>
          <p:nvPr/>
        </p:nvSpPr>
        <p:spPr>
          <a:xfrm>
            <a:off x="4800259" y="1988304"/>
            <a:ext cx="2472727"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Escribir autocompletar</a:t>
            </a:r>
            <a:endParaRPr lang="es-CU" sz="1400" dirty="0">
              <a:solidFill>
                <a:schemeClr val="bg1">
                  <a:lumMod val="85000"/>
                </a:schemeClr>
              </a:solidFill>
            </a:endParaRPr>
          </a:p>
        </p:txBody>
      </p:sp>
      <p:sp>
        <p:nvSpPr>
          <p:cNvPr id="53" name="CuadroTexto 52">
            <a:extLst>
              <a:ext uri="{FF2B5EF4-FFF2-40B4-BE49-F238E27FC236}">
                <a16:creationId xmlns:a16="http://schemas.microsoft.com/office/drawing/2014/main" id="{3D3E5409-9265-4763-B996-419DB245D6F1}"/>
              </a:ext>
            </a:extLst>
          </p:cNvPr>
          <p:cNvSpPr txBox="1"/>
          <p:nvPr/>
        </p:nvSpPr>
        <p:spPr>
          <a:xfrm>
            <a:off x="7929953" y="1636026"/>
            <a:ext cx="2774479" cy="369332"/>
          </a:xfrm>
          <a:prstGeom prst="rect">
            <a:avLst/>
          </a:prstGeom>
          <a:noFill/>
        </p:spPr>
        <p:txBody>
          <a:bodyPr wrap="square" rtlCol="0">
            <a:spAutoFit/>
          </a:bodyPr>
          <a:lstStyle/>
          <a:p>
            <a:r>
              <a:rPr lang="es-ES" dirty="0"/>
              <a:t>Código</a:t>
            </a:r>
            <a:r>
              <a:rPr lang="es-CU" sz="1800" b="1" dirty="0">
                <a:solidFill>
                  <a:srgbClr val="FF0000"/>
                </a:solidFill>
              </a:rPr>
              <a:t>*</a:t>
            </a:r>
            <a:endParaRPr lang="es-CU" dirty="0"/>
          </a:p>
        </p:txBody>
      </p:sp>
      <p:sp>
        <p:nvSpPr>
          <p:cNvPr id="54" name="Rectángulo 53">
            <a:extLst>
              <a:ext uri="{FF2B5EF4-FFF2-40B4-BE49-F238E27FC236}">
                <a16:creationId xmlns:a16="http://schemas.microsoft.com/office/drawing/2014/main" id="{F42C7FA1-F00B-4B32-BDB7-DD7B39DEC127}"/>
              </a:ext>
            </a:extLst>
          </p:cNvPr>
          <p:cNvSpPr/>
          <p:nvPr/>
        </p:nvSpPr>
        <p:spPr>
          <a:xfrm>
            <a:off x="7993552" y="1931415"/>
            <a:ext cx="2616566"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56" name="Rectángulo: esquinas redondeadas 55">
            <a:extLst>
              <a:ext uri="{FF2B5EF4-FFF2-40B4-BE49-F238E27FC236}">
                <a16:creationId xmlns:a16="http://schemas.microsoft.com/office/drawing/2014/main" id="{CB84ED62-DB33-4819-BAA6-ACBD4BF04349}"/>
              </a:ext>
            </a:extLst>
          </p:cNvPr>
          <p:cNvSpPr/>
          <p:nvPr/>
        </p:nvSpPr>
        <p:spPr>
          <a:xfrm>
            <a:off x="8039271" y="1956358"/>
            <a:ext cx="2496573"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Escribir código</a:t>
            </a:r>
            <a:endParaRPr lang="es-CU" sz="1400" dirty="0">
              <a:solidFill>
                <a:schemeClr val="bg1">
                  <a:lumMod val="85000"/>
                </a:schemeClr>
              </a:solidFill>
            </a:endParaRPr>
          </a:p>
        </p:txBody>
      </p:sp>
      <p:sp>
        <p:nvSpPr>
          <p:cNvPr id="64" name="CuadroTexto 63">
            <a:extLst>
              <a:ext uri="{FF2B5EF4-FFF2-40B4-BE49-F238E27FC236}">
                <a16:creationId xmlns:a16="http://schemas.microsoft.com/office/drawing/2014/main" id="{9173C326-5FA5-49E1-A31B-CED307D1ACA8}"/>
              </a:ext>
            </a:extLst>
          </p:cNvPr>
          <p:cNvSpPr txBox="1"/>
          <p:nvPr/>
        </p:nvSpPr>
        <p:spPr>
          <a:xfrm>
            <a:off x="711798" y="2352224"/>
            <a:ext cx="2417671" cy="369332"/>
          </a:xfrm>
          <a:prstGeom prst="rect">
            <a:avLst/>
          </a:prstGeom>
          <a:noFill/>
        </p:spPr>
        <p:txBody>
          <a:bodyPr wrap="square" rtlCol="0">
            <a:spAutoFit/>
          </a:bodyPr>
          <a:lstStyle/>
          <a:p>
            <a:r>
              <a:rPr lang="es-ES" dirty="0"/>
              <a:t>Entidad ejecutora</a:t>
            </a:r>
            <a:r>
              <a:rPr lang="es-CU" sz="1800" b="1" dirty="0">
                <a:solidFill>
                  <a:srgbClr val="FF0000"/>
                </a:solidFill>
              </a:rPr>
              <a:t>*</a:t>
            </a:r>
            <a:endParaRPr lang="es-CU" dirty="0"/>
          </a:p>
        </p:txBody>
      </p:sp>
      <p:sp>
        <p:nvSpPr>
          <p:cNvPr id="65" name="Rectángulo 64">
            <a:extLst>
              <a:ext uri="{FF2B5EF4-FFF2-40B4-BE49-F238E27FC236}">
                <a16:creationId xmlns:a16="http://schemas.microsoft.com/office/drawing/2014/main" id="{101D77E9-D687-4688-92A7-53E1083E3870}"/>
              </a:ext>
            </a:extLst>
          </p:cNvPr>
          <p:cNvSpPr/>
          <p:nvPr/>
        </p:nvSpPr>
        <p:spPr>
          <a:xfrm>
            <a:off x="711799" y="2669893"/>
            <a:ext cx="3752252"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66" name="Rectángulo: esquinas redondeadas 65">
            <a:extLst>
              <a:ext uri="{FF2B5EF4-FFF2-40B4-BE49-F238E27FC236}">
                <a16:creationId xmlns:a16="http://schemas.microsoft.com/office/drawing/2014/main" id="{C9575698-3E75-4DA2-829B-25EFDF16E7FC}"/>
              </a:ext>
            </a:extLst>
          </p:cNvPr>
          <p:cNvSpPr/>
          <p:nvPr/>
        </p:nvSpPr>
        <p:spPr>
          <a:xfrm>
            <a:off x="820828" y="2695362"/>
            <a:ext cx="3456257"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Escribir autocompletar</a:t>
            </a:r>
            <a:endParaRPr lang="es-CU" sz="1400" dirty="0">
              <a:solidFill>
                <a:schemeClr val="bg1">
                  <a:lumMod val="85000"/>
                </a:schemeClr>
              </a:solidFill>
            </a:endParaRPr>
          </a:p>
        </p:txBody>
      </p:sp>
      <p:sp>
        <p:nvSpPr>
          <p:cNvPr id="81" name="CuadroTexto 80">
            <a:extLst>
              <a:ext uri="{FF2B5EF4-FFF2-40B4-BE49-F238E27FC236}">
                <a16:creationId xmlns:a16="http://schemas.microsoft.com/office/drawing/2014/main" id="{63520988-8164-418A-AAD8-DD2B04FD048E}"/>
              </a:ext>
            </a:extLst>
          </p:cNvPr>
          <p:cNvSpPr txBox="1"/>
          <p:nvPr/>
        </p:nvSpPr>
        <p:spPr>
          <a:xfrm>
            <a:off x="7298043" y="2304483"/>
            <a:ext cx="2417671" cy="369332"/>
          </a:xfrm>
          <a:prstGeom prst="rect">
            <a:avLst/>
          </a:prstGeom>
          <a:noFill/>
        </p:spPr>
        <p:txBody>
          <a:bodyPr wrap="square" rtlCol="0">
            <a:spAutoFit/>
          </a:bodyPr>
          <a:lstStyle/>
          <a:p>
            <a:r>
              <a:rPr lang="es-ES" dirty="0"/>
              <a:t>Jefe Programa</a:t>
            </a:r>
            <a:r>
              <a:rPr lang="es-CU" sz="1800" b="1" dirty="0">
                <a:solidFill>
                  <a:srgbClr val="FF0000"/>
                </a:solidFill>
              </a:rPr>
              <a:t>*</a:t>
            </a:r>
            <a:endParaRPr lang="es-CU" dirty="0"/>
          </a:p>
        </p:txBody>
      </p:sp>
      <p:sp>
        <p:nvSpPr>
          <p:cNvPr id="89" name="Rectángulo 88">
            <a:extLst>
              <a:ext uri="{FF2B5EF4-FFF2-40B4-BE49-F238E27FC236}">
                <a16:creationId xmlns:a16="http://schemas.microsoft.com/office/drawing/2014/main" id="{E29D289C-E71B-4E10-B900-E47A92DEEFCC}"/>
              </a:ext>
            </a:extLst>
          </p:cNvPr>
          <p:cNvSpPr/>
          <p:nvPr/>
        </p:nvSpPr>
        <p:spPr>
          <a:xfrm>
            <a:off x="7356114" y="2629433"/>
            <a:ext cx="3297203"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90" name="Rectángulo: esquinas redondeadas 89">
            <a:extLst>
              <a:ext uri="{FF2B5EF4-FFF2-40B4-BE49-F238E27FC236}">
                <a16:creationId xmlns:a16="http://schemas.microsoft.com/office/drawing/2014/main" id="{59FF6D2C-8814-4800-801F-2C4828ADA3CB}"/>
              </a:ext>
            </a:extLst>
          </p:cNvPr>
          <p:cNvSpPr/>
          <p:nvPr/>
        </p:nvSpPr>
        <p:spPr>
          <a:xfrm>
            <a:off x="7384418" y="2654902"/>
            <a:ext cx="3166526"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Escribir y autocompletar</a:t>
            </a:r>
            <a:endParaRPr lang="es-CU" sz="1400" dirty="0">
              <a:solidFill>
                <a:schemeClr val="bg1">
                  <a:lumMod val="85000"/>
                </a:schemeClr>
              </a:solidFill>
            </a:endParaRPr>
          </a:p>
        </p:txBody>
      </p:sp>
      <p:sp>
        <p:nvSpPr>
          <p:cNvPr id="91" name="CuadroTexto 90">
            <a:extLst>
              <a:ext uri="{FF2B5EF4-FFF2-40B4-BE49-F238E27FC236}">
                <a16:creationId xmlns:a16="http://schemas.microsoft.com/office/drawing/2014/main" id="{368F6BD6-B62D-4187-8E21-2A46A76B7145}"/>
              </a:ext>
            </a:extLst>
          </p:cNvPr>
          <p:cNvSpPr txBox="1"/>
          <p:nvPr/>
        </p:nvSpPr>
        <p:spPr>
          <a:xfrm>
            <a:off x="722786" y="2987377"/>
            <a:ext cx="2061119" cy="369332"/>
          </a:xfrm>
          <a:prstGeom prst="rect">
            <a:avLst/>
          </a:prstGeom>
          <a:noFill/>
        </p:spPr>
        <p:txBody>
          <a:bodyPr wrap="square" rtlCol="0">
            <a:spAutoFit/>
          </a:bodyPr>
          <a:lstStyle/>
          <a:p>
            <a:r>
              <a:rPr lang="es-ES" dirty="0"/>
              <a:t>Sector Estratégico </a:t>
            </a:r>
            <a:r>
              <a:rPr lang="es-CU" sz="1800" b="1" dirty="0">
                <a:solidFill>
                  <a:srgbClr val="FF0000"/>
                </a:solidFill>
              </a:rPr>
              <a:t>*</a:t>
            </a:r>
            <a:endParaRPr lang="es-CU" dirty="0"/>
          </a:p>
        </p:txBody>
      </p:sp>
      <p:sp>
        <p:nvSpPr>
          <p:cNvPr id="92" name="Rectángulo 91">
            <a:extLst>
              <a:ext uri="{FF2B5EF4-FFF2-40B4-BE49-F238E27FC236}">
                <a16:creationId xmlns:a16="http://schemas.microsoft.com/office/drawing/2014/main" id="{42C704DB-11C1-4F08-A906-EB59A827A215}"/>
              </a:ext>
            </a:extLst>
          </p:cNvPr>
          <p:cNvSpPr/>
          <p:nvPr/>
        </p:nvSpPr>
        <p:spPr>
          <a:xfrm>
            <a:off x="722786" y="3305046"/>
            <a:ext cx="3719441"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93" name="Rectángulo: esquinas redondeadas 92">
            <a:extLst>
              <a:ext uri="{FF2B5EF4-FFF2-40B4-BE49-F238E27FC236}">
                <a16:creationId xmlns:a16="http://schemas.microsoft.com/office/drawing/2014/main" id="{A2ADC298-4A04-4999-B142-53EF10BD0BE6}"/>
              </a:ext>
            </a:extLst>
          </p:cNvPr>
          <p:cNvSpPr/>
          <p:nvPr/>
        </p:nvSpPr>
        <p:spPr>
          <a:xfrm>
            <a:off x="831815" y="3330515"/>
            <a:ext cx="3014979"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Escoger el sector estratégico (CRUD)</a:t>
            </a:r>
            <a:endParaRPr lang="es-CU" sz="1400" dirty="0">
              <a:solidFill>
                <a:schemeClr val="bg1">
                  <a:lumMod val="85000"/>
                </a:schemeClr>
              </a:solidFill>
            </a:endParaRPr>
          </a:p>
        </p:txBody>
      </p:sp>
      <p:sp>
        <p:nvSpPr>
          <p:cNvPr id="94" name="Botón de acción: ir hacia atrás o anterior 93">
            <a:hlinkClick r:id="" action="ppaction://hlinkshowjump?jump=previousslide" highlightClick="1"/>
            <a:extLst>
              <a:ext uri="{FF2B5EF4-FFF2-40B4-BE49-F238E27FC236}">
                <a16:creationId xmlns:a16="http://schemas.microsoft.com/office/drawing/2014/main" id="{A972CB01-63CD-4B1B-B32A-6C731C043227}"/>
              </a:ext>
            </a:extLst>
          </p:cNvPr>
          <p:cNvSpPr/>
          <p:nvPr/>
        </p:nvSpPr>
        <p:spPr>
          <a:xfrm rot="16200000">
            <a:off x="4150672" y="3271387"/>
            <a:ext cx="288955" cy="348744"/>
          </a:xfrm>
          <a:prstGeom prst="actionButtonBackPreviou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dirty="0"/>
          </a:p>
        </p:txBody>
      </p:sp>
      <p:sp>
        <p:nvSpPr>
          <p:cNvPr id="95" name="Rectángulo 94">
            <a:extLst>
              <a:ext uri="{FF2B5EF4-FFF2-40B4-BE49-F238E27FC236}">
                <a16:creationId xmlns:a16="http://schemas.microsoft.com/office/drawing/2014/main" id="{AB2A88F2-E02C-4EB5-80B1-67F470611AEE}"/>
              </a:ext>
            </a:extLst>
          </p:cNvPr>
          <p:cNvSpPr/>
          <p:nvPr/>
        </p:nvSpPr>
        <p:spPr>
          <a:xfrm>
            <a:off x="4743408" y="3297611"/>
            <a:ext cx="5866709"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96" name="Rectángulo: esquinas redondeadas 95">
            <a:extLst>
              <a:ext uri="{FF2B5EF4-FFF2-40B4-BE49-F238E27FC236}">
                <a16:creationId xmlns:a16="http://schemas.microsoft.com/office/drawing/2014/main" id="{FF5E66BD-90C3-48EF-ADFB-5AA040EA6F6A}"/>
              </a:ext>
            </a:extLst>
          </p:cNvPr>
          <p:cNvSpPr/>
          <p:nvPr/>
        </p:nvSpPr>
        <p:spPr>
          <a:xfrm>
            <a:off x="4852438" y="3323080"/>
            <a:ext cx="5429950"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Escoger línea (CRUD)</a:t>
            </a:r>
            <a:endParaRPr lang="es-CU" sz="1400" dirty="0">
              <a:solidFill>
                <a:schemeClr val="bg1">
                  <a:lumMod val="85000"/>
                </a:schemeClr>
              </a:solidFill>
            </a:endParaRPr>
          </a:p>
        </p:txBody>
      </p:sp>
      <p:sp>
        <p:nvSpPr>
          <p:cNvPr id="98" name="Botón de acción: ir hacia atrás o anterior 97">
            <a:hlinkClick r:id="" action="ppaction://hlinkshowjump?jump=previousslide" highlightClick="1"/>
            <a:extLst>
              <a:ext uri="{FF2B5EF4-FFF2-40B4-BE49-F238E27FC236}">
                <a16:creationId xmlns:a16="http://schemas.microsoft.com/office/drawing/2014/main" id="{DA1EFD57-67FE-4066-8FF9-8C590C17CBAC}"/>
              </a:ext>
            </a:extLst>
          </p:cNvPr>
          <p:cNvSpPr/>
          <p:nvPr/>
        </p:nvSpPr>
        <p:spPr>
          <a:xfrm rot="16200000">
            <a:off x="10312283" y="3248167"/>
            <a:ext cx="288955" cy="348744"/>
          </a:xfrm>
          <a:prstGeom prst="actionButtonBackPreviou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dirty="0"/>
          </a:p>
        </p:txBody>
      </p:sp>
      <p:sp>
        <p:nvSpPr>
          <p:cNvPr id="99" name="CuadroTexto 98">
            <a:extLst>
              <a:ext uri="{FF2B5EF4-FFF2-40B4-BE49-F238E27FC236}">
                <a16:creationId xmlns:a16="http://schemas.microsoft.com/office/drawing/2014/main" id="{4217A5E0-9189-4CD8-882C-4C5231A4F4B1}"/>
              </a:ext>
            </a:extLst>
          </p:cNvPr>
          <p:cNvSpPr txBox="1"/>
          <p:nvPr/>
        </p:nvSpPr>
        <p:spPr>
          <a:xfrm>
            <a:off x="4716113" y="3005213"/>
            <a:ext cx="5659069" cy="369332"/>
          </a:xfrm>
          <a:prstGeom prst="rect">
            <a:avLst/>
          </a:prstGeom>
          <a:noFill/>
        </p:spPr>
        <p:txBody>
          <a:bodyPr wrap="square" rtlCol="0">
            <a:spAutoFit/>
          </a:bodyPr>
          <a:lstStyle/>
          <a:p>
            <a:r>
              <a:rPr lang="es-ES" dirty="0"/>
              <a:t>Línea de investigación de la UHO al que responde</a:t>
            </a:r>
            <a:r>
              <a:rPr lang="es-CU" sz="1800" b="1" dirty="0">
                <a:solidFill>
                  <a:srgbClr val="FF0000"/>
                </a:solidFill>
              </a:rPr>
              <a:t>*</a:t>
            </a:r>
            <a:endParaRPr lang="es-CU" dirty="0"/>
          </a:p>
        </p:txBody>
      </p:sp>
      <p:sp>
        <p:nvSpPr>
          <p:cNvPr id="102" name="CuadroTexto 101">
            <a:extLst>
              <a:ext uri="{FF2B5EF4-FFF2-40B4-BE49-F238E27FC236}">
                <a16:creationId xmlns:a16="http://schemas.microsoft.com/office/drawing/2014/main" id="{CBBE8C7D-FA6F-4FE8-A93E-04CAAD67B12B}"/>
              </a:ext>
            </a:extLst>
          </p:cNvPr>
          <p:cNvSpPr txBox="1"/>
          <p:nvPr/>
        </p:nvSpPr>
        <p:spPr>
          <a:xfrm>
            <a:off x="4653531" y="2269644"/>
            <a:ext cx="2190828" cy="369332"/>
          </a:xfrm>
          <a:prstGeom prst="rect">
            <a:avLst/>
          </a:prstGeom>
          <a:noFill/>
        </p:spPr>
        <p:txBody>
          <a:bodyPr wrap="square" rtlCol="0">
            <a:spAutoFit/>
          </a:bodyPr>
          <a:lstStyle/>
          <a:p>
            <a:r>
              <a:rPr lang="es-ES" dirty="0"/>
              <a:t>Plazo de Ejecución</a:t>
            </a:r>
            <a:r>
              <a:rPr lang="es-CU" sz="1800" b="1" dirty="0">
                <a:solidFill>
                  <a:srgbClr val="FF0000"/>
                </a:solidFill>
              </a:rPr>
              <a:t> *</a:t>
            </a:r>
            <a:r>
              <a:rPr lang="es-ES" dirty="0"/>
              <a:t>  </a:t>
            </a:r>
            <a:endParaRPr lang="es-CU" dirty="0"/>
          </a:p>
        </p:txBody>
      </p:sp>
      <p:sp>
        <p:nvSpPr>
          <p:cNvPr id="103" name="Rectángulo 102">
            <a:extLst>
              <a:ext uri="{FF2B5EF4-FFF2-40B4-BE49-F238E27FC236}">
                <a16:creationId xmlns:a16="http://schemas.microsoft.com/office/drawing/2014/main" id="{6D8E973E-5C52-4C74-85CE-54520F3C633C}"/>
              </a:ext>
            </a:extLst>
          </p:cNvPr>
          <p:cNvSpPr/>
          <p:nvPr/>
        </p:nvSpPr>
        <p:spPr>
          <a:xfrm>
            <a:off x="4712957" y="2665362"/>
            <a:ext cx="1131442"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dirty="0"/>
          </a:p>
        </p:txBody>
      </p:sp>
      <p:sp>
        <p:nvSpPr>
          <p:cNvPr id="105" name="Rectángulo 104">
            <a:extLst>
              <a:ext uri="{FF2B5EF4-FFF2-40B4-BE49-F238E27FC236}">
                <a16:creationId xmlns:a16="http://schemas.microsoft.com/office/drawing/2014/main" id="{D0EE090C-A781-450C-A311-0C14F3931E0F}"/>
              </a:ext>
            </a:extLst>
          </p:cNvPr>
          <p:cNvSpPr/>
          <p:nvPr/>
        </p:nvSpPr>
        <p:spPr>
          <a:xfrm>
            <a:off x="5979635" y="2672690"/>
            <a:ext cx="1131442"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dirty="0"/>
          </a:p>
        </p:txBody>
      </p:sp>
      <p:sp>
        <p:nvSpPr>
          <p:cNvPr id="106" name="Rectángulo: esquinas redondeadas 105">
            <a:extLst>
              <a:ext uri="{FF2B5EF4-FFF2-40B4-BE49-F238E27FC236}">
                <a16:creationId xmlns:a16="http://schemas.microsoft.com/office/drawing/2014/main" id="{BC8C9E7C-E8B3-4BF6-BC28-BE93E1D37EE4}"/>
              </a:ext>
            </a:extLst>
          </p:cNvPr>
          <p:cNvSpPr/>
          <p:nvPr/>
        </p:nvSpPr>
        <p:spPr>
          <a:xfrm>
            <a:off x="4764009" y="2688993"/>
            <a:ext cx="970589"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U" sz="1400" dirty="0">
                <a:solidFill>
                  <a:schemeClr val="bg1">
                    <a:lumMod val="85000"/>
                  </a:schemeClr>
                </a:solidFill>
              </a:rPr>
              <a:t>Año Inicio</a:t>
            </a:r>
          </a:p>
        </p:txBody>
      </p:sp>
      <p:sp>
        <p:nvSpPr>
          <p:cNvPr id="107" name="Rectángulo: esquinas redondeadas 106">
            <a:extLst>
              <a:ext uri="{FF2B5EF4-FFF2-40B4-BE49-F238E27FC236}">
                <a16:creationId xmlns:a16="http://schemas.microsoft.com/office/drawing/2014/main" id="{75836F3B-6959-4B52-89A9-86B39946F4D1}"/>
              </a:ext>
            </a:extLst>
          </p:cNvPr>
          <p:cNvSpPr/>
          <p:nvPr/>
        </p:nvSpPr>
        <p:spPr>
          <a:xfrm>
            <a:off x="6047539" y="2708282"/>
            <a:ext cx="951138"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U" sz="1400" dirty="0">
                <a:solidFill>
                  <a:schemeClr val="bg1">
                    <a:lumMod val="85000"/>
                  </a:schemeClr>
                </a:solidFill>
              </a:rPr>
              <a:t>Año Fin</a:t>
            </a:r>
          </a:p>
        </p:txBody>
      </p:sp>
      <p:sp>
        <p:nvSpPr>
          <p:cNvPr id="70" name="CuadroTexto 69">
            <a:extLst>
              <a:ext uri="{FF2B5EF4-FFF2-40B4-BE49-F238E27FC236}">
                <a16:creationId xmlns:a16="http://schemas.microsoft.com/office/drawing/2014/main" id="{D8108EE6-6DFA-48C6-8E4F-762EFE8A8D6C}"/>
              </a:ext>
            </a:extLst>
          </p:cNvPr>
          <p:cNvSpPr txBox="1"/>
          <p:nvPr/>
        </p:nvSpPr>
        <p:spPr>
          <a:xfrm>
            <a:off x="717326" y="3644481"/>
            <a:ext cx="3559759" cy="369332"/>
          </a:xfrm>
          <a:prstGeom prst="rect">
            <a:avLst/>
          </a:prstGeom>
          <a:noFill/>
        </p:spPr>
        <p:txBody>
          <a:bodyPr wrap="square" rtlCol="0">
            <a:spAutoFit/>
          </a:bodyPr>
          <a:lstStyle/>
          <a:p>
            <a:r>
              <a:rPr lang="es-ES" dirty="0"/>
              <a:t>Entidades participantes</a:t>
            </a:r>
            <a:r>
              <a:rPr lang="es-CU" sz="1800" b="1" dirty="0">
                <a:solidFill>
                  <a:srgbClr val="FF0000"/>
                </a:solidFill>
              </a:rPr>
              <a:t>*</a:t>
            </a:r>
            <a:endParaRPr lang="es-CU" dirty="0"/>
          </a:p>
        </p:txBody>
      </p:sp>
      <p:sp>
        <p:nvSpPr>
          <p:cNvPr id="72" name="Rectángulo 71">
            <a:extLst>
              <a:ext uri="{FF2B5EF4-FFF2-40B4-BE49-F238E27FC236}">
                <a16:creationId xmlns:a16="http://schemas.microsoft.com/office/drawing/2014/main" id="{1A7F418B-0672-4AA9-BC16-88F580486F46}"/>
              </a:ext>
            </a:extLst>
          </p:cNvPr>
          <p:cNvSpPr/>
          <p:nvPr/>
        </p:nvSpPr>
        <p:spPr>
          <a:xfrm>
            <a:off x="717327" y="3962150"/>
            <a:ext cx="3752252"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73" name="Rectángulo: esquinas redondeadas 72">
            <a:extLst>
              <a:ext uri="{FF2B5EF4-FFF2-40B4-BE49-F238E27FC236}">
                <a16:creationId xmlns:a16="http://schemas.microsoft.com/office/drawing/2014/main" id="{40B67C65-4ABE-4B56-8D94-EFE71FA90A1A}"/>
              </a:ext>
            </a:extLst>
          </p:cNvPr>
          <p:cNvSpPr/>
          <p:nvPr/>
        </p:nvSpPr>
        <p:spPr>
          <a:xfrm>
            <a:off x="826357" y="3987619"/>
            <a:ext cx="3316244"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Escribir autocompletar</a:t>
            </a:r>
            <a:endParaRPr lang="es-CU" sz="1400" dirty="0">
              <a:solidFill>
                <a:schemeClr val="bg1">
                  <a:lumMod val="85000"/>
                </a:schemeClr>
              </a:solidFill>
            </a:endParaRPr>
          </a:p>
        </p:txBody>
      </p:sp>
      <p:sp>
        <p:nvSpPr>
          <p:cNvPr id="74" name="Rectángulo: esquinas redondeadas 73">
            <a:extLst>
              <a:ext uri="{FF2B5EF4-FFF2-40B4-BE49-F238E27FC236}">
                <a16:creationId xmlns:a16="http://schemas.microsoft.com/office/drawing/2014/main" id="{76B718D2-65F4-4E0B-AA14-B4350F708FB6}"/>
              </a:ext>
            </a:extLst>
          </p:cNvPr>
          <p:cNvSpPr/>
          <p:nvPr/>
        </p:nvSpPr>
        <p:spPr>
          <a:xfrm>
            <a:off x="429405" y="4910710"/>
            <a:ext cx="10920745" cy="1031344"/>
          </a:xfrm>
          <a:prstGeom prst="roundRect">
            <a:avLst/>
          </a:prstGeom>
          <a:solidFill>
            <a:schemeClr val="bg1"/>
          </a:solid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dirty="0"/>
          </a:p>
        </p:txBody>
      </p:sp>
      <p:sp>
        <p:nvSpPr>
          <p:cNvPr id="76" name="CuadroTexto 75">
            <a:extLst>
              <a:ext uri="{FF2B5EF4-FFF2-40B4-BE49-F238E27FC236}">
                <a16:creationId xmlns:a16="http://schemas.microsoft.com/office/drawing/2014/main" id="{172A3608-A5E6-4C7B-9CC6-552A0195DA4E}"/>
              </a:ext>
            </a:extLst>
          </p:cNvPr>
          <p:cNvSpPr txBox="1"/>
          <p:nvPr/>
        </p:nvSpPr>
        <p:spPr>
          <a:xfrm>
            <a:off x="583279" y="5108539"/>
            <a:ext cx="3739661" cy="369332"/>
          </a:xfrm>
          <a:prstGeom prst="rect">
            <a:avLst/>
          </a:prstGeom>
          <a:noFill/>
        </p:spPr>
        <p:txBody>
          <a:bodyPr wrap="square" rtlCol="0">
            <a:spAutoFit/>
          </a:bodyPr>
          <a:lstStyle/>
          <a:p>
            <a:r>
              <a:rPr lang="es-CU" dirty="0"/>
              <a:t>Nombre y Apellidos</a:t>
            </a:r>
            <a:r>
              <a:rPr lang="es-CU" sz="1400" b="1" dirty="0">
                <a:solidFill>
                  <a:srgbClr val="FF0000"/>
                </a:solidFill>
              </a:rPr>
              <a:t>*</a:t>
            </a:r>
            <a:endParaRPr lang="es-CU" dirty="0"/>
          </a:p>
        </p:txBody>
      </p:sp>
      <p:sp>
        <p:nvSpPr>
          <p:cNvPr id="77" name="Rectángulo 76">
            <a:extLst>
              <a:ext uri="{FF2B5EF4-FFF2-40B4-BE49-F238E27FC236}">
                <a16:creationId xmlns:a16="http://schemas.microsoft.com/office/drawing/2014/main" id="{BE26FD66-7756-4055-AC87-F3CE1BC684A8}"/>
              </a:ext>
            </a:extLst>
          </p:cNvPr>
          <p:cNvSpPr/>
          <p:nvPr/>
        </p:nvSpPr>
        <p:spPr>
          <a:xfrm>
            <a:off x="662410" y="5398685"/>
            <a:ext cx="4204422"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78" name="CuadroTexto 77">
            <a:extLst>
              <a:ext uri="{FF2B5EF4-FFF2-40B4-BE49-F238E27FC236}">
                <a16:creationId xmlns:a16="http://schemas.microsoft.com/office/drawing/2014/main" id="{415225DB-0D95-409D-BB6A-845D803FE475}"/>
              </a:ext>
            </a:extLst>
          </p:cNvPr>
          <p:cNvSpPr txBox="1"/>
          <p:nvPr/>
        </p:nvSpPr>
        <p:spPr>
          <a:xfrm>
            <a:off x="5280480" y="5033722"/>
            <a:ext cx="3436394" cy="369332"/>
          </a:xfrm>
          <a:prstGeom prst="rect">
            <a:avLst/>
          </a:prstGeom>
          <a:noFill/>
        </p:spPr>
        <p:txBody>
          <a:bodyPr wrap="square" rtlCol="0">
            <a:spAutoFit/>
          </a:bodyPr>
          <a:lstStyle/>
          <a:p>
            <a:r>
              <a:rPr lang="es-CU" dirty="0"/>
              <a:t>Tipo de participación</a:t>
            </a:r>
            <a:r>
              <a:rPr lang="es-CU" sz="1800" b="1" dirty="0">
                <a:solidFill>
                  <a:srgbClr val="FF0000"/>
                </a:solidFill>
              </a:rPr>
              <a:t>*</a:t>
            </a:r>
            <a:endParaRPr lang="es-CU" dirty="0"/>
          </a:p>
        </p:txBody>
      </p:sp>
      <p:sp>
        <p:nvSpPr>
          <p:cNvPr id="79" name="Rectángulo 78">
            <a:extLst>
              <a:ext uri="{FF2B5EF4-FFF2-40B4-BE49-F238E27FC236}">
                <a16:creationId xmlns:a16="http://schemas.microsoft.com/office/drawing/2014/main" id="{97927835-10D5-4BF4-BCB5-640F0DD9799F}"/>
              </a:ext>
            </a:extLst>
          </p:cNvPr>
          <p:cNvSpPr/>
          <p:nvPr/>
        </p:nvSpPr>
        <p:spPr>
          <a:xfrm>
            <a:off x="5324184" y="5370757"/>
            <a:ext cx="3660532" cy="298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a:p>
        </p:txBody>
      </p:sp>
      <p:sp>
        <p:nvSpPr>
          <p:cNvPr id="80" name="Rectángulo 79">
            <a:extLst>
              <a:ext uri="{FF2B5EF4-FFF2-40B4-BE49-F238E27FC236}">
                <a16:creationId xmlns:a16="http://schemas.microsoft.com/office/drawing/2014/main" id="{D34AD4BC-E269-4D3F-A844-4CA71246E142}"/>
              </a:ext>
            </a:extLst>
          </p:cNvPr>
          <p:cNvSpPr/>
          <p:nvPr/>
        </p:nvSpPr>
        <p:spPr>
          <a:xfrm>
            <a:off x="809797" y="4709067"/>
            <a:ext cx="3762771" cy="29893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CU" dirty="0"/>
              <a:t>Participantes de la UHO</a:t>
            </a:r>
          </a:p>
        </p:txBody>
      </p:sp>
      <p:sp>
        <p:nvSpPr>
          <p:cNvPr id="82" name="Rectángulo: esquinas redondeadas 81">
            <a:extLst>
              <a:ext uri="{FF2B5EF4-FFF2-40B4-BE49-F238E27FC236}">
                <a16:creationId xmlns:a16="http://schemas.microsoft.com/office/drawing/2014/main" id="{9918CB3A-86AC-42A7-BFA0-CF3A0E7B1D7B}"/>
              </a:ext>
            </a:extLst>
          </p:cNvPr>
          <p:cNvSpPr/>
          <p:nvPr/>
        </p:nvSpPr>
        <p:spPr>
          <a:xfrm>
            <a:off x="5453892" y="5394742"/>
            <a:ext cx="3218318" cy="24902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Escoger tipo / CRUD</a:t>
            </a:r>
            <a:endParaRPr lang="es-CU" sz="1400" dirty="0">
              <a:solidFill>
                <a:schemeClr val="bg1">
                  <a:lumMod val="85000"/>
                </a:schemeClr>
              </a:solidFill>
            </a:endParaRPr>
          </a:p>
        </p:txBody>
      </p:sp>
      <p:sp>
        <p:nvSpPr>
          <p:cNvPr id="123" name="Rectángulo: esquinas redondeadas 122">
            <a:extLst>
              <a:ext uri="{FF2B5EF4-FFF2-40B4-BE49-F238E27FC236}">
                <a16:creationId xmlns:a16="http://schemas.microsoft.com/office/drawing/2014/main" id="{6876A303-F5AD-480A-82A7-C31016D52A1B}"/>
              </a:ext>
            </a:extLst>
          </p:cNvPr>
          <p:cNvSpPr/>
          <p:nvPr/>
        </p:nvSpPr>
        <p:spPr>
          <a:xfrm>
            <a:off x="764546" y="5445574"/>
            <a:ext cx="3456257" cy="2304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bg1">
                    <a:lumMod val="85000"/>
                  </a:schemeClr>
                </a:solidFill>
              </a:rPr>
              <a:t>Escribir autocompletar</a:t>
            </a:r>
            <a:endParaRPr lang="es-CU" sz="1400" dirty="0">
              <a:solidFill>
                <a:schemeClr val="bg1">
                  <a:lumMod val="85000"/>
                </a:schemeClr>
              </a:solidFill>
            </a:endParaRPr>
          </a:p>
        </p:txBody>
      </p:sp>
      <p:sp>
        <p:nvSpPr>
          <p:cNvPr id="124" name="Botón de acción: ir hacia atrás o anterior 123">
            <a:hlinkClick r:id="" action="ppaction://hlinkshowjump?jump=previousslide" highlightClick="1"/>
            <a:extLst>
              <a:ext uri="{FF2B5EF4-FFF2-40B4-BE49-F238E27FC236}">
                <a16:creationId xmlns:a16="http://schemas.microsoft.com/office/drawing/2014/main" id="{31EA9FD5-B2D0-4369-92C4-896C52D0F542}"/>
              </a:ext>
            </a:extLst>
          </p:cNvPr>
          <p:cNvSpPr/>
          <p:nvPr/>
        </p:nvSpPr>
        <p:spPr>
          <a:xfrm rot="16200000">
            <a:off x="8702105" y="5333726"/>
            <a:ext cx="288955" cy="348744"/>
          </a:xfrm>
          <a:prstGeom prst="actionButtonBackPrevious">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U" dirty="0"/>
          </a:p>
        </p:txBody>
      </p:sp>
      <p:sp>
        <p:nvSpPr>
          <p:cNvPr id="3" name="Botón de acción: en blanco 2">
            <a:hlinkClick r:id="" action="ppaction://noaction" highlightClick="1"/>
            <a:extLst>
              <a:ext uri="{FF2B5EF4-FFF2-40B4-BE49-F238E27FC236}">
                <a16:creationId xmlns:a16="http://schemas.microsoft.com/office/drawing/2014/main" id="{C46A669C-F7E1-40BB-9E20-204EAB1F41EA}"/>
              </a:ext>
            </a:extLst>
          </p:cNvPr>
          <p:cNvSpPr/>
          <p:nvPr/>
        </p:nvSpPr>
        <p:spPr>
          <a:xfrm>
            <a:off x="4181840" y="3971415"/>
            <a:ext cx="270542" cy="273469"/>
          </a:xfrm>
          <a:prstGeom prst="actionButtonBlan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CU" dirty="0"/>
              <a:t>+</a:t>
            </a:r>
          </a:p>
        </p:txBody>
      </p:sp>
      <p:sp>
        <p:nvSpPr>
          <p:cNvPr id="127" name="Botón de acción: en blanco 126">
            <a:hlinkClick r:id="" action="ppaction://noaction" highlightClick="1"/>
            <a:extLst>
              <a:ext uri="{FF2B5EF4-FFF2-40B4-BE49-F238E27FC236}">
                <a16:creationId xmlns:a16="http://schemas.microsoft.com/office/drawing/2014/main" id="{9EF0BBC8-AA20-4193-AB46-1C064657715F}"/>
              </a:ext>
            </a:extLst>
          </p:cNvPr>
          <p:cNvSpPr/>
          <p:nvPr/>
        </p:nvSpPr>
        <p:spPr>
          <a:xfrm>
            <a:off x="9256425" y="5363620"/>
            <a:ext cx="270542" cy="273469"/>
          </a:xfrm>
          <a:prstGeom prst="actionButtonBlan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CU" dirty="0"/>
              <a:t>+</a:t>
            </a:r>
          </a:p>
        </p:txBody>
      </p:sp>
    </p:spTree>
    <p:extLst>
      <p:ext uri="{BB962C8B-B14F-4D97-AF65-F5344CB8AC3E}">
        <p14:creationId xmlns:p14="http://schemas.microsoft.com/office/powerpoint/2010/main" val="43558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ángulo 38">
            <a:extLst>
              <a:ext uri="{FF2B5EF4-FFF2-40B4-BE49-F238E27FC236}">
                <a16:creationId xmlns:a16="http://schemas.microsoft.com/office/drawing/2014/main" id="{30B859FA-9F71-4A8D-9269-D8A34D44C4B7}"/>
              </a:ext>
            </a:extLst>
          </p:cNvPr>
          <p:cNvSpPr/>
          <p:nvPr/>
        </p:nvSpPr>
        <p:spPr>
          <a:xfrm>
            <a:off x="3314490" y="83410"/>
            <a:ext cx="5032342" cy="36009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CU" sz="2000" dirty="0"/>
              <a:t>REGISTRAR PROGRAMAS</a:t>
            </a:r>
          </a:p>
        </p:txBody>
      </p:sp>
      <p:sp>
        <p:nvSpPr>
          <p:cNvPr id="24" name="CuadroTexto 23">
            <a:extLst>
              <a:ext uri="{FF2B5EF4-FFF2-40B4-BE49-F238E27FC236}">
                <a16:creationId xmlns:a16="http://schemas.microsoft.com/office/drawing/2014/main" id="{6DF30CC6-CCB9-45C7-BB3B-B25EDAB7D39C}"/>
              </a:ext>
            </a:extLst>
          </p:cNvPr>
          <p:cNvSpPr txBox="1"/>
          <p:nvPr/>
        </p:nvSpPr>
        <p:spPr>
          <a:xfrm>
            <a:off x="443060" y="671691"/>
            <a:ext cx="11010507" cy="5632311"/>
          </a:xfrm>
          <a:prstGeom prst="rect">
            <a:avLst/>
          </a:prstGeom>
          <a:noFill/>
        </p:spPr>
        <p:txBody>
          <a:bodyPr wrap="square" rtlCol="0">
            <a:spAutoFit/>
          </a:bodyPr>
          <a:lstStyle/>
          <a:p>
            <a:r>
              <a:rPr lang="es-ES" b="1" dirty="0"/>
              <a:t>Nombre del Programa: </a:t>
            </a:r>
            <a:r>
              <a:rPr lang="es-ES" dirty="0"/>
              <a:t>Permite escribir el nombre del programa. Campo de texto</a:t>
            </a:r>
            <a:endParaRPr lang="es-ES" b="1" dirty="0"/>
          </a:p>
          <a:p>
            <a:r>
              <a:rPr lang="es-ES" b="1" dirty="0"/>
              <a:t>Tipo de  programa: </a:t>
            </a:r>
            <a:r>
              <a:rPr lang="es-ES" dirty="0"/>
              <a:t> Permite escoger el tipo de programa a partir de los existentes el dicho CRUD.</a:t>
            </a:r>
          </a:p>
          <a:p>
            <a:r>
              <a:rPr lang="en-US" b="1" dirty="0" err="1"/>
              <a:t>Organismo</a:t>
            </a:r>
            <a:r>
              <a:rPr lang="en-US" dirty="0"/>
              <a:t>: </a:t>
            </a:r>
            <a:r>
              <a:rPr lang="en-US" dirty="0" err="1"/>
              <a:t>escribir</a:t>
            </a:r>
            <a:r>
              <a:rPr lang="en-US" dirty="0"/>
              <a:t> o </a:t>
            </a:r>
            <a:r>
              <a:rPr lang="en-US" dirty="0" err="1"/>
              <a:t>autocompletar</a:t>
            </a:r>
            <a:r>
              <a:rPr lang="en-US" dirty="0"/>
              <a:t> a </a:t>
            </a:r>
            <a:r>
              <a:rPr lang="en-US" dirty="0" err="1"/>
              <a:t>partir</a:t>
            </a:r>
            <a:r>
              <a:rPr lang="en-US" dirty="0"/>
              <a:t> de los </a:t>
            </a:r>
            <a:r>
              <a:rPr lang="en-US" dirty="0" err="1"/>
              <a:t>organismos</a:t>
            </a:r>
            <a:r>
              <a:rPr lang="en-US" dirty="0"/>
              <a:t> que </a:t>
            </a:r>
            <a:r>
              <a:rPr lang="en-US" dirty="0" err="1"/>
              <a:t>ya</a:t>
            </a:r>
            <a:r>
              <a:rPr lang="en-US" dirty="0"/>
              <a:t> </a:t>
            </a:r>
            <a:r>
              <a:rPr lang="en-US" dirty="0" err="1"/>
              <a:t>existen</a:t>
            </a:r>
            <a:r>
              <a:rPr lang="en-US" dirty="0"/>
              <a:t> con </a:t>
            </a:r>
            <a:r>
              <a:rPr lang="en-US" dirty="0" err="1"/>
              <a:t>anterioridad</a:t>
            </a:r>
            <a:r>
              <a:rPr lang="en-US" dirty="0"/>
              <a:t>. Se van </a:t>
            </a:r>
            <a:r>
              <a:rPr lang="en-US" dirty="0" err="1"/>
              <a:t>autoguardando</a:t>
            </a:r>
            <a:r>
              <a:rPr lang="en-US" dirty="0"/>
              <a:t>.</a:t>
            </a:r>
          </a:p>
          <a:p>
            <a:r>
              <a:rPr lang="en-US" b="1" dirty="0"/>
              <a:t>Código</a:t>
            </a:r>
            <a:r>
              <a:rPr lang="en-US" dirty="0"/>
              <a:t>: Campo de </a:t>
            </a:r>
            <a:r>
              <a:rPr lang="en-US" dirty="0" err="1"/>
              <a:t>texto</a:t>
            </a:r>
            <a:r>
              <a:rPr lang="en-US" dirty="0"/>
              <a:t> (</a:t>
            </a:r>
            <a:r>
              <a:rPr lang="en-US" dirty="0" err="1"/>
              <a:t>ej</a:t>
            </a:r>
            <a:r>
              <a:rPr lang="en-US" dirty="0"/>
              <a:t>: PN223HO14-017), es </a:t>
            </a:r>
            <a:r>
              <a:rPr lang="en-US" dirty="0" err="1"/>
              <a:t>único</a:t>
            </a:r>
            <a:r>
              <a:rPr lang="en-US" dirty="0"/>
              <a:t> para </a:t>
            </a:r>
            <a:r>
              <a:rPr lang="en-US" dirty="0" err="1"/>
              <a:t>cada</a:t>
            </a:r>
            <a:r>
              <a:rPr lang="en-US" dirty="0"/>
              <a:t> </a:t>
            </a:r>
            <a:r>
              <a:rPr lang="en-US" dirty="0" err="1"/>
              <a:t>programa</a:t>
            </a:r>
            <a:r>
              <a:rPr lang="en-US" dirty="0"/>
              <a:t>.</a:t>
            </a:r>
          </a:p>
          <a:p>
            <a:r>
              <a:rPr lang="en-US" b="1" dirty="0" err="1"/>
              <a:t>Entidad</a:t>
            </a:r>
            <a:r>
              <a:rPr lang="en-US" b="1" dirty="0"/>
              <a:t> </a:t>
            </a:r>
            <a:r>
              <a:rPr lang="en-US" b="1" dirty="0" err="1"/>
              <a:t>ejecutora</a:t>
            </a:r>
            <a:r>
              <a:rPr lang="en-US" dirty="0"/>
              <a:t>: </a:t>
            </a:r>
            <a:r>
              <a:rPr lang="en-US" dirty="0" err="1"/>
              <a:t>Escribir</a:t>
            </a:r>
            <a:r>
              <a:rPr lang="en-US" dirty="0"/>
              <a:t> o </a:t>
            </a:r>
            <a:r>
              <a:rPr lang="en-US" dirty="0" err="1"/>
              <a:t>autocompletar</a:t>
            </a:r>
            <a:r>
              <a:rPr lang="en-US" dirty="0"/>
              <a:t> a </a:t>
            </a:r>
            <a:r>
              <a:rPr lang="en-US" dirty="0" err="1"/>
              <a:t>partir</a:t>
            </a:r>
            <a:r>
              <a:rPr lang="en-US" dirty="0"/>
              <a:t> de las </a:t>
            </a:r>
            <a:r>
              <a:rPr lang="en-US" dirty="0" err="1"/>
              <a:t>instituciones</a:t>
            </a:r>
            <a:r>
              <a:rPr lang="en-US" dirty="0"/>
              <a:t> o </a:t>
            </a:r>
            <a:r>
              <a:rPr lang="en-US" dirty="0" err="1"/>
              <a:t>organismos</a:t>
            </a:r>
            <a:r>
              <a:rPr lang="en-US" dirty="0"/>
              <a:t> que </a:t>
            </a:r>
            <a:r>
              <a:rPr lang="en-US" dirty="0" err="1"/>
              <a:t>ya</a:t>
            </a:r>
            <a:r>
              <a:rPr lang="en-US" dirty="0"/>
              <a:t> </a:t>
            </a:r>
            <a:r>
              <a:rPr lang="en-US" dirty="0" err="1"/>
              <a:t>existen</a:t>
            </a:r>
            <a:r>
              <a:rPr lang="en-US" dirty="0"/>
              <a:t> con </a:t>
            </a:r>
            <a:r>
              <a:rPr lang="en-US" dirty="0" err="1"/>
              <a:t>anterioridad</a:t>
            </a:r>
            <a:r>
              <a:rPr lang="en-US" dirty="0"/>
              <a:t>, </a:t>
            </a:r>
            <a:r>
              <a:rPr lang="en-US" dirty="0" err="1"/>
              <a:t>si</a:t>
            </a:r>
            <a:r>
              <a:rPr lang="en-US" dirty="0"/>
              <a:t> </a:t>
            </a:r>
            <a:r>
              <a:rPr lang="en-US" dirty="0" err="1"/>
              <a:t>incorpora</a:t>
            </a:r>
            <a:r>
              <a:rPr lang="en-US" dirty="0"/>
              <a:t> una nuevo </a:t>
            </a:r>
            <a:r>
              <a:rPr lang="en-US" dirty="0" err="1"/>
              <a:t>autoguardarla</a:t>
            </a:r>
            <a:r>
              <a:rPr lang="en-US" dirty="0"/>
              <a:t>.</a:t>
            </a:r>
          </a:p>
          <a:p>
            <a:r>
              <a:rPr lang="en-US" b="1" dirty="0" err="1"/>
              <a:t>Plazo</a:t>
            </a:r>
            <a:r>
              <a:rPr lang="en-US" b="1" dirty="0"/>
              <a:t> de </a:t>
            </a:r>
            <a:r>
              <a:rPr lang="en-US" b="1" dirty="0" err="1"/>
              <a:t>ejecución</a:t>
            </a:r>
            <a:r>
              <a:rPr lang="en-US" dirty="0"/>
              <a:t>: </a:t>
            </a:r>
            <a:r>
              <a:rPr lang="en-US" dirty="0" err="1"/>
              <a:t>Permite</a:t>
            </a:r>
            <a:r>
              <a:rPr lang="en-US" dirty="0"/>
              <a:t> </a:t>
            </a:r>
            <a:r>
              <a:rPr lang="en-US" dirty="0" err="1"/>
              <a:t>entrar</a:t>
            </a:r>
            <a:r>
              <a:rPr lang="en-US" dirty="0"/>
              <a:t> </a:t>
            </a:r>
            <a:r>
              <a:rPr lang="en-US" dirty="0" err="1"/>
              <a:t>el</a:t>
            </a:r>
            <a:r>
              <a:rPr lang="en-US" dirty="0"/>
              <a:t> </a:t>
            </a:r>
            <a:r>
              <a:rPr lang="en-US" dirty="0" err="1"/>
              <a:t>mes</a:t>
            </a:r>
            <a:r>
              <a:rPr lang="en-US" dirty="0"/>
              <a:t> y </a:t>
            </a:r>
            <a:r>
              <a:rPr lang="en-US" dirty="0" err="1"/>
              <a:t>año</a:t>
            </a:r>
            <a:r>
              <a:rPr lang="en-US" dirty="0"/>
              <a:t> de </a:t>
            </a:r>
            <a:r>
              <a:rPr lang="en-US" dirty="0" err="1"/>
              <a:t>incio</a:t>
            </a:r>
            <a:r>
              <a:rPr lang="en-US" dirty="0"/>
              <a:t> del </a:t>
            </a:r>
            <a:r>
              <a:rPr lang="en-US" dirty="0" err="1"/>
              <a:t>programa</a:t>
            </a:r>
            <a:r>
              <a:rPr lang="en-US" dirty="0"/>
              <a:t> y </a:t>
            </a:r>
            <a:r>
              <a:rPr lang="en-US" dirty="0" err="1"/>
              <a:t>mes</a:t>
            </a:r>
            <a:r>
              <a:rPr lang="en-US" dirty="0"/>
              <a:t> y </a:t>
            </a:r>
            <a:r>
              <a:rPr lang="en-US" dirty="0" err="1"/>
              <a:t>año</a:t>
            </a:r>
            <a:r>
              <a:rPr lang="en-US" dirty="0"/>
              <a:t> fin de </a:t>
            </a:r>
            <a:r>
              <a:rPr lang="en-US" dirty="0" err="1"/>
              <a:t>programa</a:t>
            </a:r>
            <a:r>
              <a:rPr lang="en-US" dirty="0"/>
              <a:t>.</a:t>
            </a:r>
          </a:p>
          <a:p>
            <a:r>
              <a:rPr lang="en-US" b="1" dirty="0"/>
              <a:t>Jefe </a:t>
            </a:r>
            <a:r>
              <a:rPr lang="en-US" b="1" dirty="0" err="1"/>
              <a:t>Programa</a:t>
            </a:r>
            <a:r>
              <a:rPr lang="en-US" dirty="0"/>
              <a:t>: </a:t>
            </a:r>
            <a:r>
              <a:rPr lang="es-ES" dirty="0"/>
              <a:t>Escribir o autocompletar si aparece en los usuarios del sistema, sino sencillamente escribir el nombre porque puede ser externo a la UHO.</a:t>
            </a:r>
          </a:p>
          <a:p>
            <a:r>
              <a:rPr lang="es-ES" b="1" dirty="0"/>
              <a:t>Sector Estratégico</a:t>
            </a:r>
            <a:r>
              <a:rPr lang="es-ES" dirty="0"/>
              <a:t>: Escoger a partir de los sectores estratégicos incluidos como parte de este CRUD. </a:t>
            </a:r>
          </a:p>
          <a:p>
            <a:r>
              <a:rPr lang="es-ES" b="1" dirty="0"/>
              <a:t>Línea de investigación de la UHO al que responde</a:t>
            </a:r>
            <a:r>
              <a:rPr lang="es-ES" dirty="0"/>
              <a:t>: Escoger a partir de los líneas incluidas como parte de este CRUD.</a:t>
            </a:r>
          </a:p>
          <a:p>
            <a:r>
              <a:rPr lang="es-ES" b="1" dirty="0"/>
              <a:t>Entidades participantes</a:t>
            </a:r>
            <a:r>
              <a:rPr lang="es-ES" dirty="0"/>
              <a:t>: Escribir o Autocompletar a partir de las entidades ya guardadas con anterioridad, permite añadir más de una, pues pueden ser varias unidades participantes. (</a:t>
            </a:r>
            <a:r>
              <a:rPr lang="es-ES" dirty="0" err="1"/>
              <a:t>Select</a:t>
            </a:r>
            <a:r>
              <a:rPr lang="es-ES" dirty="0"/>
              <a:t> </a:t>
            </a:r>
            <a:r>
              <a:rPr lang="es-ES" dirty="0" err="1"/>
              <a:t>multiple</a:t>
            </a:r>
            <a:r>
              <a:rPr lang="es-ES" dirty="0"/>
              <a:t>) </a:t>
            </a:r>
          </a:p>
          <a:p>
            <a:r>
              <a:rPr lang="es-ES" b="1" dirty="0"/>
              <a:t>Participantes de la UHO</a:t>
            </a:r>
            <a:r>
              <a:rPr lang="es-ES" dirty="0"/>
              <a:t>: Permite escribir o autocompletar de los usuarios ya existentes o añadir uno nuevo participantes al programa. En caso que exista es solo escogerlo, sino añadirlo. De cada uno de los participantes se debe escoger tipo de participación (a partir del CRUD) </a:t>
            </a:r>
            <a:r>
              <a:rPr lang="es-ES" dirty="0" err="1"/>
              <a:t>Ej</a:t>
            </a:r>
            <a:r>
              <a:rPr lang="es-ES" dirty="0"/>
              <a:t>: Alberto Pérez </a:t>
            </a:r>
            <a:r>
              <a:rPr lang="es-ES" dirty="0" err="1"/>
              <a:t>Pérez</a:t>
            </a:r>
            <a:r>
              <a:rPr lang="es-ES" dirty="0"/>
              <a:t> y a continuación se escoge su participación: experto.</a:t>
            </a:r>
            <a:endParaRPr lang="en-US" dirty="0"/>
          </a:p>
          <a:p>
            <a:endParaRPr lang="es-ES_tradnl" b="1" dirty="0"/>
          </a:p>
          <a:p>
            <a:endParaRPr lang="es-CU" dirty="0"/>
          </a:p>
        </p:txBody>
      </p:sp>
    </p:spTree>
    <p:extLst>
      <p:ext uri="{BB962C8B-B14F-4D97-AF65-F5344CB8AC3E}">
        <p14:creationId xmlns:p14="http://schemas.microsoft.com/office/powerpoint/2010/main" val="31312952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517</Words>
  <Application>Microsoft Office PowerPoint</Application>
  <PresentationFormat>Panorámica</PresentationFormat>
  <Paragraphs>55</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Arial</vt:lpstr>
      <vt:lpstr>Calibri</vt:lpstr>
      <vt:lpstr>Calibri Light</vt:lpstr>
      <vt:lpstr>Tema de Office</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Dagoberto Mariño Blanco</dc:creator>
  <cp:lastModifiedBy>Dagoberto Mariño Blanco</cp:lastModifiedBy>
  <cp:revision>39</cp:revision>
  <dcterms:created xsi:type="dcterms:W3CDTF">2025-04-19T02:17:35Z</dcterms:created>
  <dcterms:modified xsi:type="dcterms:W3CDTF">2025-05-26T04:10:42Z</dcterms:modified>
</cp:coreProperties>
</file>