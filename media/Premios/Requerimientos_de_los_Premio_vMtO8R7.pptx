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</p:sldIdLst>
  <p:sldSz cx="12192000" cy="6858000"/>
  <p:notesSz cx="6858000" cy="9144000"/>
  <p:defaultTextStyle>
    <a:defPPr>
      <a:defRPr lang="es-C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89D08-35B4-413A-B717-711D6F1AF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9B4A158-E031-42D4-8490-DC603B9AF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9EE016A-C82C-4EB0-B73E-47BC8C91B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C2709-866F-46C9-8324-BF4B162E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F8E7C1-3432-4C3F-B55A-5D828B25C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102344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23FF97-4E4A-4E8C-B323-BC413AF54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B98271-DCB6-4A58-9880-A7518993E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0C4D7A-42BD-44E7-84CB-5A06CDE8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027F9C-2862-4891-B457-A6E99868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F9E6C7-C83B-482B-8D83-B45E49D7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4234212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1AED74-76C3-4453-8A05-BB0C2C94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E045DEC-11BE-4C84-B1EA-E9181CB680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F732C7-7B7D-4968-AC9B-4F084951C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C6BA9E-B89F-449E-A652-B56E57D0E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02D50A-6247-4041-8614-D97251BBC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3746869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12AFB6-AE54-46F8-A66A-271DF22E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61D997-966B-4E0C-9C8D-22F2B9C96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6CEE3D2-C1C4-4F42-B207-67D3E590E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AA69A5-E43B-4974-83E6-D93C4924A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0C3285A-2166-4BAC-AB4B-F92ADCB43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969BBF-D97A-45BA-AB2E-02B32FE40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1020117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44589-AC84-416C-9729-0C28DA490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1FB204-B4E0-4C4D-B019-05C6F975E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0315DBF-EF48-4D6B-A9A6-812730A23D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9AC3462-19D2-472A-9A3D-AA794BD65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9584CF9-8E5D-4BE1-AB1F-FD13C1D28E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E7251C4-BB49-48A5-8168-314A6EF7B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3AF9278-61AF-43A6-9216-FE2015721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D01E315-74F7-4DCF-98C3-E3E3B7BD5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274553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E3F94B-A866-4EC2-B496-FB928E69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B5722B4-59D4-47B5-AB56-2815E2B8B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E0C2F40-E6A4-48A5-9D1C-DE1C0EADC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C83092A-65DB-4116-853F-1358DF67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161920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946E505-C1CC-434D-BBF4-D1848F08F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192BC4B-181C-464D-8658-ECD9D96A0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0B6E71-A8F9-4E98-8443-EB3E545CC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429413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50B4C-5ACB-4DA8-B189-6E5CF3D9C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A6EA13-A115-4514-BF13-7426D90E7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EE86E14-D156-4B2C-A744-74B934C82D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61100C-24C5-4000-BF65-F7C4998E7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01E26C-B8B7-4083-A335-3E6C74617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4EC429-88E9-49E7-99B2-9B02B790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423414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A24AFF-3B6C-4039-A329-8E79D63A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68D0632-5E9A-4B0B-AD7E-421FBB1AD8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U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87FC127-803D-4CD9-9DD3-8E0C49CF3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998064-B728-41C9-BA72-7C2E32E35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5EEF4E5-31B3-4F2C-8ED9-5B471D955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08E44C-FA6B-437A-9223-45556E9A3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3342726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2F871-6C5E-4557-991A-39073C1E6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7ECD087-7C60-45A3-9AD5-400ABF82F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F37F85-3371-46C2-A30C-5FCF3449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9616B1-D832-4E3D-B0CA-CD2D8561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5A164C-0709-4105-AC5D-BD90E4BFE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4148187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6D9B714-C390-49A0-94EC-6540448396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468E6E-E9DC-4F0E-99CF-5563E1559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B11D66-5810-4561-BD82-F1BE8D3A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EC2E60-DC8E-430D-A69A-0B9F6C9D0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BE5655-95E0-44A0-B250-0AFF44E31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2488430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9E4E4C-7969-47BB-85B7-9D449ED77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U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E03378-0607-456E-81B3-081392CFA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U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6AEDD3-A3D0-4735-BC72-3167C27679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56F23-0594-4641-874D-A132547DA902}" type="datetimeFigureOut">
              <a:rPr lang="es-CU" smtClean="0"/>
              <a:t>25/5/2025</a:t>
            </a:fld>
            <a:endParaRPr lang="es-CU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9F02BD-CE58-424C-9F25-3B900814A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U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9E5A62-D9AF-46C9-A344-42D5831F3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C83637-B514-4CF6-B83C-51AB7235EFEF}" type="slidenum">
              <a:rPr lang="es-CU" smtClean="0"/>
              <a:t>‹Nº›</a:t>
            </a:fld>
            <a:endParaRPr lang="es-CU"/>
          </a:p>
        </p:txBody>
      </p:sp>
    </p:spTree>
    <p:extLst>
      <p:ext uri="{BB962C8B-B14F-4D97-AF65-F5344CB8AC3E}">
        <p14:creationId xmlns:p14="http://schemas.microsoft.com/office/powerpoint/2010/main" val="3756577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38">
            <a:extLst>
              <a:ext uri="{FF2B5EF4-FFF2-40B4-BE49-F238E27FC236}">
                <a16:creationId xmlns:a16="http://schemas.microsoft.com/office/drawing/2014/main" id="{30B859FA-9F71-4A8D-9269-D8A34D44C4B7}"/>
              </a:ext>
            </a:extLst>
          </p:cNvPr>
          <p:cNvSpPr/>
          <p:nvPr/>
        </p:nvSpPr>
        <p:spPr>
          <a:xfrm>
            <a:off x="3314490" y="83410"/>
            <a:ext cx="6131168" cy="3600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U" sz="2000" dirty="0"/>
              <a:t>Para automatizar la entrada de Información de premios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DF30CC6-CCB9-45C7-BB3B-B25EDAB7D39C}"/>
              </a:ext>
            </a:extLst>
          </p:cNvPr>
          <p:cNvSpPr txBox="1"/>
          <p:nvPr/>
        </p:nvSpPr>
        <p:spPr>
          <a:xfrm>
            <a:off x="923827" y="820132"/>
            <a:ext cx="1057687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U" dirty="0"/>
              <a:t>En mi </a:t>
            </a:r>
            <a:r>
              <a:rPr lang="es-CU" b="1" dirty="0"/>
              <a:t>perfil académico </a:t>
            </a:r>
            <a:r>
              <a:rPr lang="es-CU" dirty="0"/>
              <a:t>el usuario podrá actualizar: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U" dirty="0"/>
              <a:t>Agregar nombre de los colaboradores a partir de </a:t>
            </a:r>
            <a:r>
              <a:rPr lang="es-CU" dirty="0" err="1"/>
              <a:t>selec</a:t>
            </a:r>
            <a:r>
              <a:rPr lang="es-ES_tradnl" dirty="0"/>
              <a:t>c</a:t>
            </a:r>
            <a:r>
              <a:rPr lang="es-CU" dirty="0" err="1"/>
              <a:t>ionar</a:t>
            </a:r>
            <a:r>
              <a:rPr lang="es-CU" dirty="0"/>
              <a:t> de los usuarios del sistema y/o agregar. En caso de agregar pedir: </a:t>
            </a:r>
            <a:r>
              <a:rPr lang="es-ES_tradnl" dirty="0"/>
              <a:t>nombre, apellido, ORCID (opcional). </a:t>
            </a:r>
            <a:r>
              <a:rPr lang="es-ES_tradnl" dirty="0">
                <a:solidFill>
                  <a:srgbClr val="FF0000"/>
                </a:solidFill>
              </a:rPr>
              <a:t>Es el mismo listado de colaboradores que se utilizan para publicaciones, eventos y premios.</a:t>
            </a:r>
          </a:p>
          <a:p>
            <a:endParaRPr lang="es-CU" dirty="0"/>
          </a:p>
          <a:p>
            <a:r>
              <a:rPr lang="es-CU" dirty="0"/>
              <a:t>En la </a:t>
            </a:r>
            <a:r>
              <a:rPr lang="es-CU" b="1" dirty="0"/>
              <a:t>configuración</a:t>
            </a:r>
            <a:r>
              <a:rPr lang="es-CU" dirty="0"/>
              <a:t> el incluir los </a:t>
            </a:r>
            <a:r>
              <a:rPr lang="es-CU" dirty="0" err="1"/>
              <a:t>CRUDs</a:t>
            </a:r>
            <a:r>
              <a:rPr lang="es-CU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Tipo de premio (</a:t>
            </a:r>
            <a:r>
              <a:rPr lang="es-ES" dirty="0" err="1"/>
              <a:t>Ej</a:t>
            </a:r>
            <a:r>
              <a:rPr lang="es-ES" dirty="0"/>
              <a:t>: </a:t>
            </a:r>
            <a:r>
              <a:rPr lang="en-US" dirty="0"/>
              <a:t>Premio Nacional de la Academia de Ciancia de Cuba, Premio del CITMA, Premio BTJ….)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Carácter (</a:t>
            </a:r>
            <a:r>
              <a:rPr lang="es-ES" dirty="0" err="1"/>
              <a:t>Ej</a:t>
            </a:r>
            <a:r>
              <a:rPr lang="es-ES" dirty="0"/>
              <a:t>: Facultad, Municipal, </a:t>
            </a:r>
            <a:r>
              <a:rPr lang="en-US" dirty="0"/>
              <a:t>Institutional, Provincial, Nacional, International)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s-CU" dirty="0"/>
          </a:p>
          <a:p>
            <a:r>
              <a:rPr lang="es-CU" dirty="0"/>
              <a:t>El CRUD Tipo de premio, incluye: </a:t>
            </a:r>
            <a:r>
              <a:rPr lang="es-ES" dirty="0"/>
              <a:t>Nombre del tipo de premio, Institución o organismo que lo otorga,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s-CU" dirty="0"/>
          </a:p>
          <a:p>
            <a:endParaRPr lang="es-C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U" dirty="0"/>
          </a:p>
        </p:txBody>
      </p:sp>
    </p:spTree>
    <p:extLst>
      <p:ext uri="{BB962C8B-B14F-4D97-AF65-F5344CB8AC3E}">
        <p14:creationId xmlns:p14="http://schemas.microsoft.com/office/powerpoint/2010/main" val="697291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27BABF5-8F7F-4CD3-BAC8-6E245105859E}"/>
              </a:ext>
            </a:extLst>
          </p:cNvPr>
          <p:cNvSpPr/>
          <p:nvPr/>
        </p:nvSpPr>
        <p:spPr>
          <a:xfrm>
            <a:off x="418182" y="796384"/>
            <a:ext cx="10919471" cy="3386723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3842D40-C4C0-47C0-A1AB-9DD9AD5DD1F8}"/>
              </a:ext>
            </a:extLst>
          </p:cNvPr>
          <p:cNvSpPr txBox="1"/>
          <p:nvPr/>
        </p:nvSpPr>
        <p:spPr>
          <a:xfrm>
            <a:off x="602812" y="1755473"/>
            <a:ext cx="447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Título del premio </a:t>
            </a:r>
            <a:endParaRPr lang="es-CU" dirty="0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EE653164-DFAB-458D-9C20-1DBA4D0BEFB0}"/>
              </a:ext>
            </a:extLst>
          </p:cNvPr>
          <p:cNvSpPr/>
          <p:nvPr/>
        </p:nvSpPr>
        <p:spPr>
          <a:xfrm>
            <a:off x="700862" y="2064606"/>
            <a:ext cx="10079778" cy="29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C84FF10-3743-424D-9458-084450055F93}"/>
              </a:ext>
            </a:extLst>
          </p:cNvPr>
          <p:cNvSpPr/>
          <p:nvPr/>
        </p:nvSpPr>
        <p:spPr>
          <a:xfrm>
            <a:off x="937763" y="705810"/>
            <a:ext cx="2622887" cy="29893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Datos del PREMIO</a:t>
            </a:r>
            <a:endParaRPr lang="es-CU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B31F3E3F-E2D7-498E-8550-DF137FD6C863}"/>
              </a:ext>
            </a:extLst>
          </p:cNvPr>
          <p:cNvSpPr txBox="1"/>
          <p:nvPr/>
        </p:nvSpPr>
        <p:spPr>
          <a:xfrm>
            <a:off x="700862" y="1045245"/>
            <a:ext cx="2061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Tipo de premio</a:t>
            </a:r>
            <a:r>
              <a:rPr lang="es-CU" sz="1800" b="1" dirty="0">
                <a:solidFill>
                  <a:srgbClr val="FF0000"/>
                </a:solidFill>
              </a:rPr>
              <a:t> *</a:t>
            </a:r>
            <a:endParaRPr lang="es-CU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79F591C7-9525-4627-AE32-A76F179031C0}"/>
              </a:ext>
            </a:extLst>
          </p:cNvPr>
          <p:cNvSpPr/>
          <p:nvPr/>
        </p:nvSpPr>
        <p:spPr>
          <a:xfrm>
            <a:off x="700862" y="1362914"/>
            <a:ext cx="5254465" cy="29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30B859FA-9F71-4A8D-9269-D8A34D44C4B7}"/>
              </a:ext>
            </a:extLst>
          </p:cNvPr>
          <p:cNvSpPr/>
          <p:nvPr/>
        </p:nvSpPr>
        <p:spPr>
          <a:xfrm>
            <a:off x="3314490" y="83410"/>
            <a:ext cx="5032342" cy="3600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U" sz="2000" dirty="0"/>
              <a:t>REGISTRAR PREMIO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212DF2FB-6E44-4BB3-8BC9-F89E7CE931C4}"/>
              </a:ext>
            </a:extLst>
          </p:cNvPr>
          <p:cNvSpPr txBox="1"/>
          <p:nvPr/>
        </p:nvSpPr>
        <p:spPr>
          <a:xfrm>
            <a:off x="521799" y="4667201"/>
            <a:ext cx="5192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Premio asociado a un resultado de proyecto:  </a:t>
            </a:r>
            <a:r>
              <a:rPr lang="es-ES" b="1" dirty="0"/>
              <a:t>Si</a:t>
            </a:r>
            <a:r>
              <a:rPr lang="es-ES" dirty="0"/>
              <a:t>/</a:t>
            </a:r>
            <a:r>
              <a:rPr lang="es-ES" b="1" dirty="0"/>
              <a:t>No</a:t>
            </a:r>
            <a:endParaRPr lang="es-CU" b="1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8EB616A0-F079-44B5-9E56-128DE25BD286}"/>
              </a:ext>
            </a:extLst>
          </p:cNvPr>
          <p:cNvSpPr txBox="1"/>
          <p:nvPr/>
        </p:nvSpPr>
        <p:spPr>
          <a:xfrm>
            <a:off x="5860862" y="4387734"/>
            <a:ext cx="2690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¿Cuál proyecto?</a:t>
            </a:r>
            <a:endParaRPr lang="es-CU" dirty="0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D662CB79-36AF-4C33-97C5-00D78D6CB95A}"/>
              </a:ext>
            </a:extLst>
          </p:cNvPr>
          <p:cNvSpPr/>
          <p:nvPr/>
        </p:nvSpPr>
        <p:spPr>
          <a:xfrm>
            <a:off x="5939991" y="4712660"/>
            <a:ext cx="4050719" cy="29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/>
          </a:p>
        </p:txBody>
      </p:sp>
      <p:sp>
        <p:nvSpPr>
          <p:cNvPr id="61" name="Botón de acción: ir hacia atrás o anterior 6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08FE52DE-B41D-4419-AFE7-711F22990AC5}"/>
              </a:ext>
            </a:extLst>
          </p:cNvPr>
          <p:cNvSpPr/>
          <p:nvPr/>
        </p:nvSpPr>
        <p:spPr>
          <a:xfrm rot="16200000">
            <a:off x="9671860" y="4687756"/>
            <a:ext cx="288955" cy="34874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 dirty="0"/>
          </a:p>
        </p:txBody>
      </p:sp>
      <p:sp>
        <p:nvSpPr>
          <p:cNvPr id="62" name="Rectángulo: esquinas redondeadas 61">
            <a:extLst>
              <a:ext uri="{FF2B5EF4-FFF2-40B4-BE49-F238E27FC236}">
                <a16:creationId xmlns:a16="http://schemas.microsoft.com/office/drawing/2014/main" id="{207C6034-1A31-497C-899B-9D7586C41767}"/>
              </a:ext>
            </a:extLst>
          </p:cNvPr>
          <p:cNvSpPr/>
          <p:nvPr/>
        </p:nvSpPr>
        <p:spPr>
          <a:xfrm>
            <a:off x="762228" y="2091738"/>
            <a:ext cx="9955113" cy="2304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>
                    <a:lumMod val="85000"/>
                  </a:schemeClr>
                </a:solidFill>
              </a:rPr>
              <a:t>Escribir el titulo del trabajo premiado (puede ser </a:t>
            </a:r>
            <a:r>
              <a:rPr lang="es-ES" sz="1400" dirty="0" err="1">
                <a:solidFill>
                  <a:schemeClr val="bg1">
                    <a:lumMod val="85000"/>
                  </a:schemeClr>
                </a:solidFill>
              </a:rPr>
              <a:t>vacio</a:t>
            </a:r>
            <a:r>
              <a:rPr lang="es-ES" sz="1400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es-CU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479B3BA2-E681-47D5-A18F-C01D16A9B8A9}"/>
              </a:ext>
            </a:extLst>
          </p:cNvPr>
          <p:cNvSpPr/>
          <p:nvPr/>
        </p:nvSpPr>
        <p:spPr>
          <a:xfrm>
            <a:off x="809892" y="1388383"/>
            <a:ext cx="4729134" cy="2304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>
                    <a:lumMod val="85000"/>
                  </a:schemeClr>
                </a:solidFill>
              </a:rPr>
              <a:t>Escoger tipo premio (Desplegar CRUD)</a:t>
            </a:r>
            <a:endParaRPr lang="es-CU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9E4E7810-1DBC-48A5-853A-C60C5EEC4425}"/>
              </a:ext>
            </a:extLst>
          </p:cNvPr>
          <p:cNvSpPr/>
          <p:nvPr/>
        </p:nvSpPr>
        <p:spPr>
          <a:xfrm>
            <a:off x="6116536" y="4731202"/>
            <a:ext cx="3406324" cy="2304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>
                <a:solidFill>
                  <a:schemeClr val="bg1">
                    <a:lumMod val="85000"/>
                  </a:schemeClr>
                </a:solidFill>
              </a:rPr>
              <a:t>Escoger de los proyectos existentes</a:t>
            </a:r>
            <a:endParaRPr lang="es-CU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71" name="Botón de acción: ir hacia atrás o anterior 70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E93298B-F71E-445C-B9A4-C79E72817560}"/>
              </a:ext>
            </a:extLst>
          </p:cNvPr>
          <p:cNvSpPr/>
          <p:nvPr/>
        </p:nvSpPr>
        <p:spPr>
          <a:xfrm rot="16200000">
            <a:off x="5625373" y="1328472"/>
            <a:ext cx="288955" cy="34874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 dirty="0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70AA3766-8BE3-4C92-A02F-A0E2509326FD}"/>
              </a:ext>
            </a:extLst>
          </p:cNvPr>
          <p:cNvSpPr txBox="1"/>
          <p:nvPr/>
        </p:nvSpPr>
        <p:spPr>
          <a:xfrm>
            <a:off x="602812" y="3332156"/>
            <a:ext cx="3729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dirty="0"/>
              <a:t>Subir diploma del premio</a:t>
            </a:r>
            <a:endParaRPr lang="es-CU" dirty="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3BFF67FC-8AE8-4F1E-A859-32C604463B21}"/>
              </a:ext>
            </a:extLst>
          </p:cNvPr>
          <p:cNvSpPr/>
          <p:nvPr/>
        </p:nvSpPr>
        <p:spPr>
          <a:xfrm>
            <a:off x="678265" y="3693264"/>
            <a:ext cx="4050719" cy="29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/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AF9C3006-387E-43EF-8D9D-DE99DE159256}"/>
              </a:ext>
            </a:extLst>
          </p:cNvPr>
          <p:cNvSpPr/>
          <p:nvPr/>
        </p:nvSpPr>
        <p:spPr>
          <a:xfrm>
            <a:off x="700862" y="3723497"/>
            <a:ext cx="1332975" cy="2304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>
                    <a:lumMod val="85000"/>
                  </a:schemeClr>
                </a:solidFill>
              </a:rPr>
              <a:t>Examinar:</a:t>
            </a:r>
            <a:endParaRPr lang="es-CU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778AE910-BAE6-430B-9151-8C836BD9A4DF}"/>
              </a:ext>
            </a:extLst>
          </p:cNvPr>
          <p:cNvSpPr txBox="1"/>
          <p:nvPr/>
        </p:nvSpPr>
        <p:spPr>
          <a:xfrm>
            <a:off x="609445" y="2529991"/>
            <a:ext cx="37080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U" dirty="0"/>
              <a:t>Premiado(s) (Nombre y Apellidos) </a:t>
            </a:r>
            <a:r>
              <a:rPr lang="es-CU" sz="1800" b="1" dirty="0">
                <a:solidFill>
                  <a:srgbClr val="FF0000"/>
                </a:solidFill>
              </a:rPr>
              <a:t>*</a:t>
            </a:r>
            <a:endParaRPr lang="es-CU" dirty="0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085BA36A-FB3C-4541-AFAC-B80417D237B3}"/>
              </a:ext>
            </a:extLst>
          </p:cNvPr>
          <p:cNvSpPr/>
          <p:nvPr/>
        </p:nvSpPr>
        <p:spPr>
          <a:xfrm>
            <a:off x="688575" y="2854917"/>
            <a:ext cx="3660532" cy="29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91FA5B16-9217-4ED3-AAD4-1DBD8726965E}"/>
              </a:ext>
            </a:extLst>
          </p:cNvPr>
          <p:cNvSpPr/>
          <p:nvPr/>
        </p:nvSpPr>
        <p:spPr>
          <a:xfrm>
            <a:off x="818283" y="2878902"/>
            <a:ext cx="3343858" cy="2490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>
                    <a:lumMod val="85000"/>
                  </a:schemeClr>
                </a:solidFill>
              </a:rPr>
              <a:t>Por defecto poner el nombre del usuario</a:t>
            </a:r>
            <a:endParaRPr lang="es-CU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81EBEFE0-93A9-4F1F-8F62-314DF54A4C35}"/>
              </a:ext>
            </a:extLst>
          </p:cNvPr>
          <p:cNvSpPr txBox="1"/>
          <p:nvPr/>
        </p:nvSpPr>
        <p:spPr>
          <a:xfrm>
            <a:off x="6954940" y="1030368"/>
            <a:ext cx="3436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U" dirty="0"/>
              <a:t>Carácter </a:t>
            </a:r>
            <a:r>
              <a:rPr lang="es-CU" sz="1800" b="1" dirty="0">
                <a:solidFill>
                  <a:srgbClr val="FF0000"/>
                </a:solidFill>
              </a:rPr>
              <a:t>*</a:t>
            </a:r>
            <a:endParaRPr lang="es-CU" dirty="0"/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A8ADAACF-3871-4D06-BDDF-0FC144AE4DA5}"/>
              </a:ext>
            </a:extLst>
          </p:cNvPr>
          <p:cNvSpPr/>
          <p:nvPr/>
        </p:nvSpPr>
        <p:spPr>
          <a:xfrm>
            <a:off x="7034069" y="1355294"/>
            <a:ext cx="3660532" cy="29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/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F663C5C8-11A7-40C0-AC04-39763094FCF3}"/>
              </a:ext>
            </a:extLst>
          </p:cNvPr>
          <p:cNvSpPr/>
          <p:nvPr/>
        </p:nvSpPr>
        <p:spPr>
          <a:xfrm>
            <a:off x="7163777" y="1379279"/>
            <a:ext cx="3181048" cy="2490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>
                    <a:lumMod val="85000"/>
                  </a:schemeClr>
                </a:solidFill>
              </a:rPr>
              <a:t>Desplegar CRUD</a:t>
            </a:r>
            <a:endParaRPr lang="es-CU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5" name="Botón de acción: ir hacia atrás o anterior 6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CDBD27A-781A-4408-B7D4-33A748B364E5}"/>
              </a:ext>
            </a:extLst>
          </p:cNvPr>
          <p:cNvSpPr/>
          <p:nvPr/>
        </p:nvSpPr>
        <p:spPr>
          <a:xfrm rot="16200000">
            <a:off x="10398491" y="1316876"/>
            <a:ext cx="288955" cy="348744"/>
          </a:xfrm>
          <a:prstGeom prst="actionButtonBackPrevious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 dirty="0"/>
          </a:p>
        </p:txBody>
      </p:sp>
      <p:sp>
        <p:nvSpPr>
          <p:cNvPr id="99" name="CuadroTexto 98">
            <a:extLst>
              <a:ext uri="{FF2B5EF4-FFF2-40B4-BE49-F238E27FC236}">
                <a16:creationId xmlns:a16="http://schemas.microsoft.com/office/drawing/2014/main" id="{62BDEAD8-B87F-418C-A8CE-2020AAB34B93}"/>
              </a:ext>
            </a:extLst>
          </p:cNvPr>
          <p:cNvSpPr txBox="1"/>
          <p:nvPr/>
        </p:nvSpPr>
        <p:spPr>
          <a:xfrm>
            <a:off x="4728984" y="2488011"/>
            <a:ext cx="3359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U" dirty="0"/>
              <a:t>Fecha (Mes/Año)</a:t>
            </a:r>
            <a:r>
              <a:rPr lang="es-CU" sz="1800" b="1" dirty="0">
                <a:solidFill>
                  <a:srgbClr val="FF0000"/>
                </a:solidFill>
              </a:rPr>
              <a:t>*</a:t>
            </a:r>
            <a:endParaRPr lang="es-CU" dirty="0"/>
          </a:p>
        </p:txBody>
      </p:sp>
      <p:sp>
        <p:nvSpPr>
          <p:cNvPr id="101" name="Rectángulo 100">
            <a:extLst>
              <a:ext uri="{FF2B5EF4-FFF2-40B4-BE49-F238E27FC236}">
                <a16:creationId xmlns:a16="http://schemas.microsoft.com/office/drawing/2014/main" id="{BD081389-867A-4492-9E74-C7323A2024DE}"/>
              </a:ext>
            </a:extLst>
          </p:cNvPr>
          <p:cNvSpPr/>
          <p:nvPr/>
        </p:nvSpPr>
        <p:spPr>
          <a:xfrm>
            <a:off x="4808113" y="2812937"/>
            <a:ext cx="1730154" cy="29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/>
          </a:p>
        </p:txBody>
      </p:sp>
      <p:sp>
        <p:nvSpPr>
          <p:cNvPr id="102" name="Rectángulo: esquinas redondeadas 101">
            <a:extLst>
              <a:ext uri="{FF2B5EF4-FFF2-40B4-BE49-F238E27FC236}">
                <a16:creationId xmlns:a16="http://schemas.microsoft.com/office/drawing/2014/main" id="{7717F4DF-41A0-4199-B250-2E3D4C797E0E}"/>
              </a:ext>
            </a:extLst>
          </p:cNvPr>
          <p:cNvSpPr/>
          <p:nvPr/>
        </p:nvSpPr>
        <p:spPr>
          <a:xfrm>
            <a:off x="4937821" y="2836922"/>
            <a:ext cx="1470738" cy="24902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>
                    <a:lumMod val="85000"/>
                  </a:schemeClr>
                </a:solidFill>
              </a:rPr>
              <a:t>Mes / Año</a:t>
            </a:r>
            <a:endParaRPr lang="es-CU" sz="1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7E1C83E7-2E21-4BBF-840A-B80E4A5BD612}"/>
              </a:ext>
            </a:extLst>
          </p:cNvPr>
          <p:cNvSpPr txBox="1"/>
          <p:nvPr/>
        </p:nvSpPr>
        <p:spPr>
          <a:xfrm>
            <a:off x="7084529" y="2526550"/>
            <a:ext cx="3632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Institución / organismo que otorga</a:t>
            </a:r>
            <a:r>
              <a:rPr lang="es-CU" sz="1800" b="1" dirty="0">
                <a:solidFill>
                  <a:srgbClr val="FF0000"/>
                </a:solidFill>
              </a:rPr>
              <a:t>*</a:t>
            </a:r>
            <a:endParaRPr lang="es-CU" dirty="0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02CA3145-71A9-4AF5-A4E2-7C4385A5B324}"/>
              </a:ext>
            </a:extLst>
          </p:cNvPr>
          <p:cNvSpPr/>
          <p:nvPr/>
        </p:nvSpPr>
        <p:spPr>
          <a:xfrm>
            <a:off x="7084529" y="2844219"/>
            <a:ext cx="3675120" cy="2989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U"/>
          </a:p>
        </p:txBody>
      </p:sp>
      <p:sp>
        <p:nvSpPr>
          <p:cNvPr id="107" name="Rectángulo: esquinas redondeadas 106">
            <a:extLst>
              <a:ext uri="{FF2B5EF4-FFF2-40B4-BE49-F238E27FC236}">
                <a16:creationId xmlns:a16="http://schemas.microsoft.com/office/drawing/2014/main" id="{6FF2B445-5D43-42DE-BACF-A7299F392BF1}"/>
              </a:ext>
            </a:extLst>
          </p:cNvPr>
          <p:cNvSpPr/>
          <p:nvPr/>
        </p:nvSpPr>
        <p:spPr>
          <a:xfrm>
            <a:off x="7121611" y="2875885"/>
            <a:ext cx="3595730" cy="23049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chemeClr val="bg1">
                    <a:lumMod val="85000"/>
                  </a:schemeClr>
                </a:solidFill>
              </a:rPr>
              <a:t>Autocompletar o Nueva</a:t>
            </a:r>
            <a:endParaRPr lang="es-CU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9217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ángulo 38">
            <a:extLst>
              <a:ext uri="{FF2B5EF4-FFF2-40B4-BE49-F238E27FC236}">
                <a16:creationId xmlns:a16="http://schemas.microsoft.com/office/drawing/2014/main" id="{30B859FA-9F71-4A8D-9269-D8A34D44C4B7}"/>
              </a:ext>
            </a:extLst>
          </p:cNvPr>
          <p:cNvSpPr/>
          <p:nvPr/>
        </p:nvSpPr>
        <p:spPr>
          <a:xfrm>
            <a:off x="3314490" y="83410"/>
            <a:ext cx="5032342" cy="3600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U" sz="2000" dirty="0"/>
              <a:t>REGISTRAR PREMIOS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DF30CC6-CCB9-45C7-BB3B-B25EDAB7D39C}"/>
              </a:ext>
            </a:extLst>
          </p:cNvPr>
          <p:cNvSpPr txBox="1"/>
          <p:nvPr/>
        </p:nvSpPr>
        <p:spPr>
          <a:xfrm>
            <a:off x="443060" y="671691"/>
            <a:ext cx="1101050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Tipo de premio</a:t>
            </a:r>
            <a:r>
              <a:rPr lang="es-CU" dirty="0"/>
              <a:t>: Permite escoger de la lista carga del CRUD “Tipo de Evento”, incluir Otro como alternativa de a uno que no aparezca aún en el CRUD tipo de Premios</a:t>
            </a:r>
          </a:p>
          <a:p>
            <a:r>
              <a:rPr lang="es-ES" b="1" dirty="0"/>
              <a:t>Carácter</a:t>
            </a:r>
            <a:r>
              <a:rPr lang="es-CU" dirty="0"/>
              <a:t>: Permite escoger de la lista carga del CRUD “Carácter”.</a:t>
            </a:r>
            <a:endParaRPr lang="es-ES_tradnl" b="1" dirty="0"/>
          </a:p>
          <a:p>
            <a:r>
              <a:rPr lang="es-ES_tradnl" b="1" dirty="0"/>
              <a:t>Título del premio</a:t>
            </a:r>
            <a:r>
              <a:rPr lang="es-CU" dirty="0"/>
              <a:t>: </a:t>
            </a:r>
          </a:p>
          <a:p>
            <a:pPr marL="536575" indent="-273050">
              <a:buFont typeface="Arial" panose="020B0604020202020204" pitchFamily="34" charset="0"/>
              <a:buChar char="•"/>
            </a:pPr>
            <a:r>
              <a:rPr lang="es-ES" dirty="0"/>
              <a:t>Permite escribir el título del premio, aunque no es un campo obligatorio porque existen premio que son requieren un título (resultado investigado) para otorgarlo.</a:t>
            </a:r>
            <a:endParaRPr lang="es-CU" dirty="0"/>
          </a:p>
          <a:p>
            <a:pPr marL="263525" indent="-263525"/>
            <a:r>
              <a:rPr lang="es-ES" b="1" dirty="0"/>
              <a:t>Institución</a:t>
            </a:r>
            <a:r>
              <a:rPr lang="es-CU" dirty="0"/>
              <a:t>: Permite autocompletar de las existentes en el campo </a:t>
            </a:r>
            <a:r>
              <a:rPr lang="es-CU" dirty="0" err="1"/>
              <a:t>ins</a:t>
            </a:r>
            <a:r>
              <a:rPr lang="es-ES_tradnl" dirty="0"/>
              <a:t>t</a:t>
            </a:r>
            <a:r>
              <a:rPr lang="es-CU" dirty="0" err="1"/>
              <a:t>itución</a:t>
            </a:r>
            <a:r>
              <a:rPr lang="es-CU" dirty="0"/>
              <a:t> de los premio/eventos/artículos existentes en el sistema.</a:t>
            </a:r>
          </a:p>
          <a:p>
            <a:r>
              <a:rPr lang="es-CU" b="1" dirty="0"/>
              <a:t>Premiados</a:t>
            </a:r>
            <a:r>
              <a:rPr lang="es-CU" dirty="0"/>
              <a:t>: </a:t>
            </a:r>
          </a:p>
          <a:p>
            <a:pPr marL="536575" indent="-273050">
              <a:buFont typeface="Arial" panose="020B0604020202020204" pitchFamily="34" charset="0"/>
              <a:buChar char="•"/>
            </a:pPr>
            <a:r>
              <a:rPr lang="es-CU" dirty="0"/>
              <a:t>Debe permitir añadir botón (+) para incorporar un nuevo autor del premio. </a:t>
            </a:r>
          </a:p>
          <a:p>
            <a:pPr marL="536575" indent="-273050">
              <a:buFont typeface="Arial" panose="020B0604020202020204" pitchFamily="34" charset="0"/>
              <a:buChar char="•"/>
            </a:pPr>
            <a:r>
              <a:rPr lang="es-ES_tradnl" dirty="0"/>
              <a:t>Poner</a:t>
            </a:r>
            <a:r>
              <a:rPr lang="es-CU" dirty="0"/>
              <a:t> por defecto en el primer autor del premio el nombre del usuario.</a:t>
            </a:r>
          </a:p>
          <a:p>
            <a:pPr marL="536575" indent="-273050">
              <a:buFont typeface="Arial" panose="020B0604020202020204" pitchFamily="34" charset="0"/>
              <a:buChar char="•"/>
            </a:pPr>
            <a:r>
              <a:rPr lang="es-CU" dirty="0"/>
              <a:t>Permitir al </a:t>
            </a:r>
            <a:r>
              <a:rPr lang="es-CU" dirty="0" err="1"/>
              <a:t>escr</a:t>
            </a:r>
            <a:r>
              <a:rPr lang="es-ES_tradnl" dirty="0"/>
              <a:t>i</a:t>
            </a:r>
            <a:r>
              <a:rPr lang="es-CU" dirty="0"/>
              <a:t>bir con el autocompletar y/o </a:t>
            </a:r>
            <a:r>
              <a:rPr lang="es-CU" dirty="0" err="1"/>
              <a:t>selec</a:t>
            </a:r>
            <a:r>
              <a:rPr lang="es-ES_tradnl" dirty="0"/>
              <a:t>c</a:t>
            </a:r>
            <a:r>
              <a:rPr lang="es-CU" dirty="0" err="1"/>
              <a:t>ionar</a:t>
            </a:r>
            <a:r>
              <a:rPr lang="es-CU" dirty="0"/>
              <a:t> un premiado de los existentes en sus colaboradores, o un pequeño botón de agregar (+) que en un modal (que pregunte nombre*, apellidos*, ORCID [opcional]) y lo añada automáticamente a los colaboradores del usuario, de manera que ya aparezca al agregar un nuevo artículo, evento o premio</a:t>
            </a:r>
          </a:p>
          <a:p>
            <a:pPr marL="263525" indent="-263525"/>
            <a:r>
              <a:rPr lang="es-CU" dirty="0"/>
              <a:t>¿Cu</a:t>
            </a:r>
            <a:r>
              <a:rPr lang="es-ES_tradnl" dirty="0"/>
              <a:t>á</a:t>
            </a:r>
            <a:r>
              <a:rPr lang="es-CU" dirty="0"/>
              <a:t>l proyecto? :</a:t>
            </a:r>
          </a:p>
          <a:p>
            <a:pPr marL="285750" indent="-22225">
              <a:buFont typeface="Arial" panose="020B0604020202020204" pitchFamily="34" charset="0"/>
              <a:buChar char="•"/>
            </a:pPr>
            <a:r>
              <a:rPr lang="es-CU" dirty="0"/>
              <a:t> Solo se completa si se responde que si el artículo está asociado a un proyecto. </a:t>
            </a:r>
          </a:p>
          <a:p>
            <a:pPr marL="285750" indent="-22225">
              <a:buFont typeface="Arial" panose="020B0604020202020204" pitchFamily="34" charset="0"/>
              <a:buChar char="•"/>
            </a:pPr>
            <a:r>
              <a:rPr lang="es-CU" dirty="0"/>
              <a:t> Los proyectos se cargan de los registrados en la administración del Sistema.</a:t>
            </a:r>
          </a:p>
          <a:p>
            <a:pPr marL="285750" indent="-22225">
              <a:buFont typeface="Arial" panose="020B0604020202020204" pitchFamily="34" charset="0"/>
              <a:buChar char="•"/>
            </a:pPr>
            <a:endParaRPr lang="es-CU" dirty="0"/>
          </a:p>
        </p:txBody>
      </p:sp>
    </p:spTree>
    <p:extLst>
      <p:ext uri="{BB962C8B-B14F-4D97-AF65-F5344CB8AC3E}">
        <p14:creationId xmlns:p14="http://schemas.microsoft.com/office/powerpoint/2010/main" val="3131295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474</Words>
  <Application>Microsoft Office PowerPoint</Application>
  <PresentationFormat>Panorámica</PresentationFormat>
  <Paragraphs>45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Dagoberto Mariño Blanco</dc:creator>
  <cp:lastModifiedBy>Dagoberto Mariño Blanco</cp:lastModifiedBy>
  <cp:revision>29</cp:revision>
  <dcterms:created xsi:type="dcterms:W3CDTF">2025-04-19T02:17:35Z</dcterms:created>
  <dcterms:modified xsi:type="dcterms:W3CDTF">2025-05-26T02:52:32Z</dcterms:modified>
</cp:coreProperties>
</file>